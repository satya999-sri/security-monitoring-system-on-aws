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media/image2.jpg" ContentType="image/jpeg"/>
  <Override PartName="/ppt/media/image3.jpg" ContentType="image/jpeg"/>
  <Override PartName="/ppt/media/image4.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41" r:id="rId1"/>
  </p:sldMasterIdLst>
  <p:sldIdLst>
    <p:sldId id="256" r:id="rId2"/>
    <p:sldId id="257" r:id="rId3"/>
    <p:sldId id="258" r:id="rId4"/>
    <p:sldId id="259" r:id="rId5"/>
    <p:sldId id="260" r:id="rId6"/>
    <p:sldId id="261" r:id="rId7"/>
    <p:sldId id="262" r:id="rId8"/>
    <p:sldId id="263" r:id="rId9"/>
    <p:sldId id="268" r:id="rId10"/>
    <p:sldId id="269" r:id="rId11"/>
    <p:sldId id="265" r:id="rId12"/>
    <p:sldId id="266" r:id="rId13"/>
    <p:sldId id="267" r:id="rId14"/>
  </p:sldIdLst>
  <p:sldSz cx="9144000" cy="6858000" type="screen4x3"/>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Freeform 28"/>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lumMod val="75000"/>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7/11/2025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4068022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7/11/2025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3576316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7/11/2025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47527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7/11/2025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87549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7/11/2025</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35531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7/11/2025</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532034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7/11/2025</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200388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7/11/2025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674118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7/11/2025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929291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7/11/2025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4273001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7/11/2025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359428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7/11/2025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994161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7/11/2025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3460277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7/11/2025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7721365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7/11/2025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8500485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7/11/2025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735056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cxnSp>
          <p:nvCxnSpPr>
            <p:cNvPr id="7" name="Straight Connector 6"/>
            <p:cNvCxnSpPr/>
            <p:nvPr/>
          </p:nvCxnSpPr>
          <p:spPr>
            <a:xfrm flipV="1">
              <a:off x="5130830" y="4175605"/>
              <a:ext cx="4022475" cy="2682396"/>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7042707"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9" name="Freeform 8"/>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D8BD707-D9CF-40AE-B4C6-C98DA3205C09}" type="datetimeFigureOut">
              <a:rPr lang="en-US" smtClean="0"/>
              <a:t>7/11/2025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561118710"/>
      </p:ext>
    </p:extLst>
  </p:cSld>
  <p:clrMap bg1="dk1" tx1="lt1" bg2="dk2" tx2="lt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 id="2147483756" r:id="rId15"/>
    <p:sldLayoutId id="214748375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35175" y="383540"/>
            <a:ext cx="5459730" cy="1368425"/>
          </a:xfrm>
          <a:prstGeom prst="rect">
            <a:avLst/>
          </a:prstGeom>
        </p:spPr>
        <p:txBody>
          <a:bodyPr vert="horz" wrap="square" lIns="0" tIns="34290" rIns="0" bIns="0" rtlCol="0">
            <a:spAutoFit/>
          </a:bodyPr>
          <a:lstStyle/>
          <a:p>
            <a:pPr marL="811530" marR="5080" indent="-799465">
              <a:lnSpc>
                <a:spcPts val="5250"/>
              </a:lnSpc>
              <a:spcBef>
                <a:spcPts val="270"/>
              </a:spcBef>
            </a:pPr>
            <a:r>
              <a:rPr dirty="0"/>
              <a:t>SECURITY</a:t>
            </a:r>
            <a:r>
              <a:rPr spc="-195" dirty="0"/>
              <a:t> </a:t>
            </a:r>
            <a:r>
              <a:rPr spc="-10" dirty="0"/>
              <a:t>MONITORING </a:t>
            </a:r>
            <a:r>
              <a:rPr dirty="0"/>
              <a:t>SYSTEM</a:t>
            </a:r>
            <a:r>
              <a:rPr spc="-130" dirty="0"/>
              <a:t> </a:t>
            </a:r>
            <a:r>
              <a:rPr dirty="0"/>
              <a:t>ON</a:t>
            </a:r>
            <a:r>
              <a:rPr spc="-120" dirty="0"/>
              <a:t> </a:t>
            </a:r>
            <a:r>
              <a:rPr spc="-25" dirty="0"/>
              <a:t>AWS</a:t>
            </a:r>
          </a:p>
        </p:txBody>
      </p:sp>
      <p:sp>
        <p:nvSpPr>
          <p:cNvPr id="3" name="object 3"/>
          <p:cNvSpPr txBox="1"/>
          <p:nvPr/>
        </p:nvSpPr>
        <p:spPr>
          <a:xfrm>
            <a:off x="436244" y="1882648"/>
            <a:ext cx="8098155" cy="1189355"/>
          </a:xfrm>
          <a:prstGeom prst="rect">
            <a:avLst/>
          </a:prstGeom>
        </p:spPr>
        <p:txBody>
          <a:bodyPr vert="horz" wrap="square" lIns="0" tIns="12065" rIns="0" bIns="0" rtlCol="0">
            <a:spAutoFit/>
          </a:bodyPr>
          <a:lstStyle/>
          <a:p>
            <a:pPr marL="1395095" marR="5080" indent="-1382395">
              <a:lnSpc>
                <a:spcPct val="119300"/>
              </a:lnSpc>
              <a:spcBef>
                <a:spcPts val="95"/>
              </a:spcBef>
            </a:pPr>
            <a:r>
              <a:rPr sz="3200" dirty="0">
                <a:latin typeface="Calibri"/>
                <a:cs typeface="Calibri"/>
              </a:rPr>
              <a:t>Prepared</a:t>
            </a:r>
            <a:r>
              <a:rPr sz="3200" spc="-85" dirty="0">
                <a:latin typeface="Calibri"/>
                <a:cs typeface="Calibri"/>
              </a:rPr>
              <a:t> </a:t>
            </a:r>
            <a:r>
              <a:rPr sz="3200" dirty="0">
                <a:latin typeface="Calibri"/>
                <a:cs typeface="Calibri"/>
              </a:rPr>
              <a:t>in</a:t>
            </a:r>
            <a:r>
              <a:rPr sz="3200" spc="-80" dirty="0">
                <a:latin typeface="Calibri"/>
                <a:cs typeface="Calibri"/>
              </a:rPr>
              <a:t> </a:t>
            </a:r>
            <a:r>
              <a:rPr sz="3200" dirty="0">
                <a:latin typeface="Calibri"/>
                <a:cs typeface="Calibri"/>
              </a:rPr>
              <a:t>the</a:t>
            </a:r>
            <a:r>
              <a:rPr sz="3200" spc="-70" dirty="0">
                <a:latin typeface="Calibri"/>
                <a:cs typeface="Calibri"/>
              </a:rPr>
              <a:t> </a:t>
            </a:r>
            <a:r>
              <a:rPr sz="3200" dirty="0">
                <a:latin typeface="Calibri"/>
                <a:cs typeface="Calibri"/>
              </a:rPr>
              <a:t>partial</a:t>
            </a:r>
            <a:r>
              <a:rPr sz="3200" spc="-35" dirty="0">
                <a:latin typeface="Calibri"/>
                <a:cs typeface="Calibri"/>
              </a:rPr>
              <a:t> </a:t>
            </a:r>
            <a:r>
              <a:rPr sz="3200" dirty="0">
                <a:latin typeface="Calibri"/>
                <a:cs typeface="Calibri"/>
              </a:rPr>
              <a:t>fulfillment</a:t>
            </a:r>
            <a:r>
              <a:rPr sz="3200" spc="-70" dirty="0">
                <a:latin typeface="Calibri"/>
                <a:cs typeface="Calibri"/>
              </a:rPr>
              <a:t> </a:t>
            </a:r>
            <a:r>
              <a:rPr sz="3200" dirty="0">
                <a:latin typeface="Calibri"/>
                <a:cs typeface="Calibri"/>
              </a:rPr>
              <a:t>of</a:t>
            </a:r>
            <a:r>
              <a:rPr sz="3200" spc="-55" dirty="0">
                <a:latin typeface="Calibri"/>
                <a:cs typeface="Calibri"/>
              </a:rPr>
              <a:t> </a:t>
            </a:r>
            <a:r>
              <a:rPr sz="3200" dirty="0">
                <a:latin typeface="Calibri"/>
                <a:cs typeface="Calibri"/>
              </a:rPr>
              <a:t>the</a:t>
            </a:r>
            <a:r>
              <a:rPr sz="3200" spc="-70" dirty="0">
                <a:latin typeface="Calibri"/>
                <a:cs typeface="Calibri"/>
              </a:rPr>
              <a:t> </a:t>
            </a:r>
            <a:r>
              <a:rPr sz="3200" spc="-10" dirty="0">
                <a:latin typeface="Calibri"/>
                <a:cs typeface="Calibri"/>
              </a:rPr>
              <a:t>Summer Internship</a:t>
            </a:r>
            <a:r>
              <a:rPr sz="3200" spc="-85" dirty="0">
                <a:latin typeface="Calibri"/>
                <a:cs typeface="Calibri"/>
              </a:rPr>
              <a:t> </a:t>
            </a:r>
            <a:r>
              <a:rPr sz="3200" dirty="0">
                <a:latin typeface="Calibri"/>
                <a:cs typeface="Calibri"/>
              </a:rPr>
              <a:t>Program</a:t>
            </a:r>
            <a:r>
              <a:rPr sz="3200" spc="-75" dirty="0">
                <a:latin typeface="Calibri"/>
                <a:cs typeface="Calibri"/>
              </a:rPr>
              <a:t> </a:t>
            </a:r>
            <a:r>
              <a:rPr sz="3200" dirty="0">
                <a:latin typeface="Calibri"/>
                <a:cs typeface="Calibri"/>
              </a:rPr>
              <a:t>on</a:t>
            </a:r>
            <a:r>
              <a:rPr sz="3200" spc="-95" dirty="0">
                <a:latin typeface="Calibri"/>
                <a:cs typeface="Calibri"/>
              </a:rPr>
              <a:t> </a:t>
            </a:r>
            <a:r>
              <a:rPr sz="3200" spc="-25" dirty="0">
                <a:latin typeface="Calibri"/>
                <a:cs typeface="Calibri"/>
              </a:rPr>
              <a:t>AWS</a:t>
            </a:r>
            <a:endParaRPr sz="3200">
              <a:latin typeface="Calibri"/>
              <a:cs typeface="Calibri"/>
            </a:endParaRPr>
          </a:p>
        </p:txBody>
      </p:sp>
      <p:pic>
        <p:nvPicPr>
          <p:cNvPr id="4" name="object 4"/>
          <p:cNvPicPr/>
          <p:nvPr/>
        </p:nvPicPr>
        <p:blipFill>
          <a:blip r:embed="rId2" cstate="print"/>
          <a:stretch>
            <a:fillRect/>
          </a:stretch>
        </p:blipFill>
        <p:spPr>
          <a:xfrm>
            <a:off x="2743200" y="3390900"/>
            <a:ext cx="4067175" cy="2152650"/>
          </a:xfrm>
          <a:prstGeom prst="rect">
            <a:avLst/>
          </a:prstGeom>
        </p:spPr>
      </p:pic>
      <p:sp>
        <p:nvSpPr>
          <p:cNvPr id="5" name="object 5"/>
          <p:cNvSpPr txBox="1"/>
          <p:nvPr/>
        </p:nvSpPr>
        <p:spPr>
          <a:xfrm>
            <a:off x="3064510" y="5679440"/>
            <a:ext cx="2835275" cy="854075"/>
          </a:xfrm>
          <a:prstGeom prst="rect">
            <a:avLst/>
          </a:prstGeom>
        </p:spPr>
        <p:txBody>
          <a:bodyPr vert="horz" wrap="square" lIns="0" tIns="10795" rIns="0" bIns="0" rtlCol="0">
            <a:spAutoFit/>
          </a:bodyPr>
          <a:lstStyle/>
          <a:p>
            <a:pPr marL="12700" marR="5080" indent="367030">
              <a:lnSpc>
                <a:spcPct val="100800"/>
              </a:lnSpc>
              <a:spcBef>
                <a:spcPts val="85"/>
              </a:spcBef>
            </a:pPr>
            <a:r>
              <a:rPr sz="1800" dirty="0">
                <a:latin typeface="Calibri"/>
                <a:cs typeface="Calibri"/>
              </a:rPr>
              <a:t>Under</a:t>
            </a:r>
            <a:r>
              <a:rPr sz="1800" spc="-45" dirty="0">
                <a:latin typeface="Calibri"/>
                <a:cs typeface="Calibri"/>
              </a:rPr>
              <a:t> </a:t>
            </a:r>
            <a:r>
              <a:rPr sz="1800" dirty="0">
                <a:latin typeface="Calibri"/>
                <a:cs typeface="Calibri"/>
              </a:rPr>
              <a:t>the</a:t>
            </a:r>
            <a:r>
              <a:rPr sz="1800" spc="-15" dirty="0">
                <a:latin typeface="Calibri"/>
                <a:cs typeface="Calibri"/>
              </a:rPr>
              <a:t> </a:t>
            </a:r>
            <a:r>
              <a:rPr sz="1800" dirty="0">
                <a:latin typeface="Calibri"/>
                <a:cs typeface="Calibri"/>
              </a:rPr>
              <a:t>guidance</a:t>
            </a:r>
            <a:r>
              <a:rPr sz="1800" spc="-20" dirty="0">
                <a:latin typeface="Calibri"/>
                <a:cs typeface="Calibri"/>
              </a:rPr>
              <a:t> </a:t>
            </a:r>
            <a:r>
              <a:rPr sz="1800" spc="-25" dirty="0">
                <a:latin typeface="Calibri"/>
                <a:cs typeface="Calibri"/>
              </a:rPr>
              <a:t>of </a:t>
            </a:r>
            <a:r>
              <a:rPr sz="1800" dirty="0">
                <a:latin typeface="Calibri"/>
                <a:cs typeface="Calibri"/>
              </a:rPr>
              <a:t>Mrs.</a:t>
            </a:r>
            <a:r>
              <a:rPr sz="1800" spc="-80" dirty="0">
                <a:latin typeface="Calibri"/>
                <a:cs typeface="Calibri"/>
              </a:rPr>
              <a:t> </a:t>
            </a:r>
            <a:r>
              <a:rPr sz="1800" dirty="0">
                <a:latin typeface="Calibri"/>
                <a:cs typeface="Calibri"/>
              </a:rPr>
              <a:t>Sumana</a:t>
            </a:r>
            <a:r>
              <a:rPr sz="1800" spc="-45" dirty="0">
                <a:latin typeface="Calibri"/>
                <a:cs typeface="Calibri"/>
              </a:rPr>
              <a:t> </a:t>
            </a:r>
            <a:r>
              <a:rPr sz="1800" dirty="0">
                <a:latin typeface="Calibri"/>
                <a:cs typeface="Calibri"/>
              </a:rPr>
              <a:t>Bethala,</a:t>
            </a:r>
            <a:r>
              <a:rPr sz="1800" spc="5" dirty="0">
                <a:latin typeface="Calibri"/>
                <a:cs typeface="Calibri"/>
              </a:rPr>
              <a:t> </a:t>
            </a:r>
            <a:r>
              <a:rPr sz="1800" spc="-10" dirty="0">
                <a:latin typeface="Calibri"/>
                <a:cs typeface="Calibri"/>
              </a:rPr>
              <a:t>APSSDC</a:t>
            </a:r>
            <a:endParaRPr sz="1800">
              <a:latin typeface="Calibri"/>
              <a:cs typeface="Calibri"/>
            </a:endParaRPr>
          </a:p>
          <a:p>
            <a:pPr marL="274320">
              <a:lnSpc>
                <a:spcPct val="100000"/>
              </a:lnSpc>
              <a:spcBef>
                <a:spcPts val="20"/>
              </a:spcBef>
            </a:pPr>
            <a:r>
              <a:rPr sz="1800" spc="-20" dirty="0">
                <a:latin typeface="Calibri"/>
                <a:cs typeface="Calibri"/>
              </a:rPr>
              <a:t>Mr.Anil</a:t>
            </a:r>
            <a:r>
              <a:rPr sz="1800" spc="-65" dirty="0">
                <a:latin typeface="Calibri"/>
                <a:cs typeface="Calibri"/>
              </a:rPr>
              <a:t> </a:t>
            </a:r>
            <a:r>
              <a:rPr sz="1800" spc="-30" dirty="0">
                <a:latin typeface="Calibri"/>
                <a:cs typeface="Calibri"/>
              </a:rPr>
              <a:t>Kumar, </a:t>
            </a:r>
            <a:r>
              <a:rPr sz="1800" spc="-10" dirty="0">
                <a:latin typeface="Calibri"/>
                <a:cs typeface="Calibri"/>
              </a:rPr>
              <a:t>APSSDC</a:t>
            </a:r>
            <a:endParaRPr sz="180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91410" y="1012824"/>
            <a:ext cx="3754754" cy="701040"/>
          </a:xfrm>
          <a:prstGeom prst="rect">
            <a:avLst/>
          </a:prstGeom>
        </p:spPr>
        <p:txBody>
          <a:bodyPr vert="horz" wrap="square" lIns="0" tIns="16510" rIns="0" bIns="0" rtlCol="0">
            <a:spAutoFit/>
          </a:bodyPr>
          <a:lstStyle/>
          <a:p>
            <a:pPr marL="12700">
              <a:lnSpc>
                <a:spcPct val="100000"/>
              </a:lnSpc>
              <a:spcBef>
                <a:spcPts val="130"/>
              </a:spcBef>
            </a:pPr>
            <a:r>
              <a:rPr dirty="0"/>
              <a:t>Group</a:t>
            </a:r>
            <a:r>
              <a:rPr spc="-120" dirty="0"/>
              <a:t> </a:t>
            </a:r>
            <a:r>
              <a:rPr spc="-10" dirty="0"/>
              <a:t>Members</a:t>
            </a:r>
          </a:p>
        </p:txBody>
      </p:sp>
      <p:sp>
        <p:nvSpPr>
          <p:cNvPr id="3" name="object 3"/>
          <p:cNvSpPr txBox="1"/>
          <p:nvPr/>
        </p:nvSpPr>
        <p:spPr>
          <a:xfrm>
            <a:off x="950912" y="2371217"/>
            <a:ext cx="6899909" cy="3039745"/>
          </a:xfrm>
          <a:prstGeom prst="rect">
            <a:avLst/>
          </a:prstGeom>
        </p:spPr>
        <p:txBody>
          <a:bodyPr vert="horz" wrap="square" lIns="0" tIns="5715" rIns="0" bIns="0" rtlCol="0">
            <a:spAutoFit/>
          </a:bodyPr>
          <a:lstStyle/>
          <a:p>
            <a:pPr marL="12700" marR="5080">
              <a:lnSpc>
                <a:spcPct val="109900"/>
              </a:lnSpc>
              <a:spcBef>
                <a:spcPts val="45"/>
              </a:spcBef>
            </a:pPr>
            <a:r>
              <a:rPr sz="3000" dirty="0">
                <a:latin typeface="Calibri"/>
                <a:cs typeface="Calibri"/>
              </a:rPr>
              <a:t>1.23MH1A0430</a:t>
            </a:r>
            <a:r>
              <a:rPr sz="3000" spc="-114" dirty="0">
                <a:latin typeface="Calibri"/>
                <a:cs typeface="Calibri"/>
              </a:rPr>
              <a:t> </a:t>
            </a:r>
            <a:r>
              <a:rPr sz="3000" dirty="0">
                <a:latin typeface="Calibri"/>
                <a:cs typeface="Calibri"/>
              </a:rPr>
              <a:t>–</a:t>
            </a:r>
            <a:r>
              <a:rPr sz="3000" spc="-100" dirty="0">
                <a:latin typeface="Calibri"/>
                <a:cs typeface="Calibri"/>
              </a:rPr>
              <a:t> </a:t>
            </a:r>
            <a:r>
              <a:rPr sz="3000" spc="-10" dirty="0">
                <a:latin typeface="Calibri"/>
                <a:cs typeface="Calibri"/>
              </a:rPr>
              <a:t>Kalagara</a:t>
            </a:r>
            <a:r>
              <a:rPr sz="3000" spc="-90" dirty="0">
                <a:latin typeface="Calibri"/>
                <a:cs typeface="Calibri"/>
              </a:rPr>
              <a:t> </a:t>
            </a:r>
            <a:r>
              <a:rPr sz="3000" spc="-10" dirty="0">
                <a:latin typeface="Calibri"/>
                <a:cs typeface="Calibri"/>
              </a:rPr>
              <a:t>Kusuma </a:t>
            </a:r>
            <a:r>
              <a:rPr sz="3000" dirty="0">
                <a:latin typeface="Calibri"/>
                <a:cs typeface="Calibri"/>
              </a:rPr>
              <a:t>2.23MH1A4902</a:t>
            </a:r>
            <a:r>
              <a:rPr sz="3000" spc="-110" dirty="0">
                <a:latin typeface="Calibri"/>
                <a:cs typeface="Calibri"/>
              </a:rPr>
              <a:t> </a:t>
            </a:r>
            <a:r>
              <a:rPr sz="3000" dirty="0">
                <a:latin typeface="Calibri"/>
                <a:cs typeface="Calibri"/>
              </a:rPr>
              <a:t>–</a:t>
            </a:r>
            <a:r>
              <a:rPr sz="3000" spc="-95" dirty="0">
                <a:latin typeface="Calibri"/>
                <a:cs typeface="Calibri"/>
              </a:rPr>
              <a:t> </a:t>
            </a:r>
            <a:r>
              <a:rPr sz="3000" dirty="0">
                <a:latin typeface="Calibri"/>
                <a:cs typeface="Calibri"/>
              </a:rPr>
              <a:t>Aketi</a:t>
            </a:r>
            <a:r>
              <a:rPr sz="3000" spc="-95" dirty="0">
                <a:latin typeface="Calibri"/>
                <a:cs typeface="Calibri"/>
              </a:rPr>
              <a:t> </a:t>
            </a:r>
            <a:r>
              <a:rPr sz="3000" dirty="0">
                <a:latin typeface="Calibri"/>
                <a:cs typeface="Calibri"/>
              </a:rPr>
              <a:t>Lakshmi</a:t>
            </a:r>
            <a:r>
              <a:rPr sz="3000" spc="-65" dirty="0">
                <a:latin typeface="Calibri"/>
                <a:cs typeface="Calibri"/>
              </a:rPr>
              <a:t> </a:t>
            </a:r>
            <a:r>
              <a:rPr sz="3000" spc="-10" dirty="0">
                <a:latin typeface="Calibri"/>
                <a:cs typeface="Calibri"/>
              </a:rPr>
              <a:t>Srujana </a:t>
            </a:r>
            <a:r>
              <a:rPr sz="3000" dirty="0">
                <a:latin typeface="Calibri"/>
                <a:cs typeface="Calibri"/>
              </a:rPr>
              <a:t>3.23MH1A4911</a:t>
            </a:r>
            <a:r>
              <a:rPr sz="3000" spc="-95" dirty="0">
                <a:latin typeface="Calibri"/>
                <a:cs typeface="Calibri"/>
              </a:rPr>
              <a:t> </a:t>
            </a:r>
            <a:r>
              <a:rPr sz="3000" dirty="0">
                <a:latin typeface="Calibri"/>
                <a:cs typeface="Calibri"/>
              </a:rPr>
              <a:t>–</a:t>
            </a:r>
            <a:r>
              <a:rPr sz="3000" spc="-85" dirty="0">
                <a:latin typeface="Calibri"/>
                <a:cs typeface="Calibri"/>
              </a:rPr>
              <a:t> </a:t>
            </a:r>
            <a:r>
              <a:rPr sz="3000" dirty="0">
                <a:latin typeface="Calibri"/>
                <a:cs typeface="Calibri"/>
              </a:rPr>
              <a:t>Chevvakula</a:t>
            </a:r>
            <a:r>
              <a:rPr sz="3000" spc="-114" dirty="0">
                <a:latin typeface="Calibri"/>
                <a:cs typeface="Calibri"/>
              </a:rPr>
              <a:t> </a:t>
            </a:r>
            <a:r>
              <a:rPr sz="3000" spc="-10" dirty="0">
                <a:latin typeface="Calibri"/>
                <a:cs typeface="Calibri"/>
              </a:rPr>
              <a:t>Sireesha </a:t>
            </a:r>
            <a:r>
              <a:rPr sz="3000" dirty="0">
                <a:latin typeface="Calibri"/>
                <a:cs typeface="Calibri"/>
              </a:rPr>
              <a:t>4.23MH1A4951</a:t>
            </a:r>
            <a:r>
              <a:rPr sz="3000" spc="-80" dirty="0">
                <a:latin typeface="Calibri"/>
                <a:cs typeface="Calibri"/>
              </a:rPr>
              <a:t> </a:t>
            </a:r>
            <a:r>
              <a:rPr sz="3000" dirty="0">
                <a:latin typeface="Calibri"/>
                <a:cs typeface="Calibri"/>
              </a:rPr>
              <a:t>–</a:t>
            </a:r>
            <a:r>
              <a:rPr sz="3000" spc="-75" dirty="0">
                <a:latin typeface="Calibri"/>
                <a:cs typeface="Calibri"/>
              </a:rPr>
              <a:t> </a:t>
            </a:r>
            <a:r>
              <a:rPr sz="3000" dirty="0">
                <a:latin typeface="Calibri"/>
                <a:cs typeface="Calibri"/>
              </a:rPr>
              <a:t>Addepalli</a:t>
            </a:r>
            <a:r>
              <a:rPr sz="3000" spc="-120" dirty="0">
                <a:latin typeface="Calibri"/>
                <a:cs typeface="Calibri"/>
              </a:rPr>
              <a:t> </a:t>
            </a:r>
            <a:r>
              <a:rPr sz="3000" dirty="0">
                <a:latin typeface="Calibri"/>
                <a:cs typeface="Calibri"/>
              </a:rPr>
              <a:t>Ramya</a:t>
            </a:r>
            <a:r>
              <a:rPr sz="3000" spc="-110" dirty="0">
                <a:latin typeface="Calibri"/>
                <a:cs typeface="Calibri"/>
              </a:rPr>
              <a:t> </a:t>
            </a:r>
            <a:r>
              <a:rPr sz="3000" spc="-10" dirty="0">
                <a:latin typeface="Calibri"/>
                <a:cs typeface="Calibri"/>
              </a:rPr>
              <a:t>Haripriya</a:t>
            </a:r>
            <a:endParaRPr sz="3000">
              <a:latin typeface="Calibri"/>
              <a:cs typeface="Calibri"/>
            </a:endParaRPr>
          </a:p>
          <a:p>
            <a:pPr marL="12700" marR="1527810" indent="3003550">
              <a:lnSpc>
                <a:spcPts val="3979"/>
              </a:lnSpc>
              <a:spcBef>
                <a:spcPts val="100"/>
              </a:spcBef>
            </a:pPr>
            <a:r>
              <a:rPr sz="3000" spc="-10" dirty="0">
                <a:latin typeface="Calibri"/>
                <a:cs typeface="Calibri"/>
              </a:rPr>
              <a:t>Varshini </a:t>
            </a:r>
            <a:r>
              <a:rPr sz="3000" dirty="0">
                <a:latin typeface="Calibri"/>
                <a:cs typeface="Calibri"/>
              </a:rPr>
              <a:t>5.23MH1A4953</a:t>
            </a:r>
            <a:r>
              <a:rPr sz="3000" spc="-110" dirty="0">
                <a:latin typeface="Calibri"/>
                <a:cs typeface="Calibri"/>
              </a:rPr>
              <a:t> </a:t>
            </a:r>
            <a:r>
              <a:rPr sz="3000" dirty="0">
                <a:latin typeface="Calibri"/>
                <a:cs typeface="Calibri"/>
              </a:rPr>
              <a:t>–</a:t>
            </a:r>
            <a:r>
              <a:rPr sz="3000" spc="-95" dirty="0">
                <a:latin typeface="Calibri"/>
                <a:cs typeface="Calibri"/>
              </a:rPr>
              <a:t> </a:t>
            </a:r>
            <a:r>
              <a:rPr sz="3000" dirty="0">
                <a:latin typeface="Calibri"/>
                <a:cs typeface="Calibri"/>
              </a:rPr>
              <a:t>Rayudu</a:t>
            </a:r>
            <a:r>
              <a:rPr sz="3000" spc="-95" dirty="0">
                <a:latin typeface="Calibri"/>
                <a:cs typeface="Calibri"/>
              </a:rPr>
              <a:t> </a:t>
            </a:r>
            <a:r>
              <a:rPr sz="3000" dirty="0">
                <a:latin typeface="Calibri"/>
                <a:cs typeface="Calibri"/>
              </a:rPr>
              <a:t>Satya</a:t>
            </a:r>
            <a:r>
              <a:rPr sz="3000" spc="-110" dirty="0">
                <a:latin typeface="Calibri"/>
                <a:cs typeface="Calibri"/>
              </a:rPr>
              <a:t> </a:t>
            </a:r>
            <a:r>
              <a:rPr sz="3000" spc="-25" dirty="0">
                <a:latin typeface="Calibri"/>
                <a:cs typeface="Calibri"/>
              </a:rPr>
              <a:t>Sri</a:t>
            </a:r>
            <a:endParaRPr sz="300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599" y="609600"/>
            <a:ext cx="7315201" cy="570669"/>
          </a:xfrm>
          <a:prstGeom prst="rect">
            <a:avLst/>
          </a:prstGeom>
        </p:spPr>
        <p:txBody>
          <a:bodyPr vert="horz" wrap="square" lIns="0" tIns="16510" rIns="0" bIns="0" rtlCol="0">
            <a:spAutoFit/>
          </a:bodyPr>
          <a:lstStyle/>
          <a:p>
            <a:pPr marL="1028700">
              <a:lnSpc>
                <a:spcPct val="100000"/>
              </a:lnSpc>
              <a:spcBef>
                <a:spcPts val="130"/>
              </a:spcBef>
            </a:pPr>
            <a:r>
              <a:rPr lang="en-IN" spc="-10" dirty="0"/>
              <a:t>        </a:t>
            </a:r>
            <a:r>
              <a:rPr spc="-10" dirty="0"/>
              <a:t>INTRODUCTION</a:t>
            </a:r>
          </a:p>
        </p:txBody>
      </p:sp>
      <p:sp>
        <p:nvSpPr>
          <p:cNvPr id="3" name="object 3"/>
          <p:cNvSpPr txBox="1"/>
          <p:nvPr/>
        </p:nvSpPr>
        <p:spPr>
          <a:xfrm>
            <a:off x="536575" y="1549399"/>
            <a:ext cx="8043545" cy="4247060"/>
          </a:xfrm>
          <a:prstGeom prst="rect">
            <a:avLst/>
          </a:prstGeom>
        </p:spPr>
        <p:txBody>
          <a:bodyPr vert="horz" wrap="square" lIns="0" tIns="84455" rIns="0" bIns="0" rtlCol="0">
            <a:spAutoFit/>
          </a:bodyPr>
          <a:lstStyle/>
          <a:p>
            <a:pPr marL="12700" marR="75565" indent="304165">
              <a:lnSpc>
                <a:spcPct val="81800"/>
              </a:lnSpc>
              <a:spcBef>
                <a:spcPts val="665"/>
              </a:spcBef>
              <a:buChar char="•"/>
              <a:tabLst>
                <a:tab pos="316865" algn="l"/>
              </a:tabLst>
            </a:pPr>
            <a:r>
              <a:rPr sz="2450" dirty="0">
                <a:latin typeface="Calibri"/>
                <a:cs typeface="Calibri"/>
              </a:rPr>
              <a:t>Ever</a:t>
            </a:r>
            <a:r>
              <a:rPr sz="2450" spc="10" dirty="0">
                <a:latin typeface="Calibri"/>
                <a:cs typeface="Calibri"/>
              </a:rPr>
              <a:t> </a:t>
            </a:r>
            <a:r>
              <a:rPr sz="2450" dirty="0">
                <a:latin typeface="Calibri"/>
                <a:cs typeface="Calibri"/>
              </a:rPr>
              <a:t>wondered</a:t>
            </a:r>
            <a:r>
              <a:rPr sz="2450" spc="20" dirty="0">
                <a:latin typeface="Calibri"/>
                <a:cs typeface="Calibri"/>
              </a:rPr>
              <a:t> </a:t>
            </a:r>
            <a:r>
              <a:rPr sz="2450" dirty="0">
                <a:latin typeface="Calibri"/>
                <a:cs typeface="Calibri"/>
              </a:rPr>
              <a:t>how</a:t>
            </a:r>
            <a:r>
              <a:rPr sz="2450" spc="70" dirty="0">
                <a:latin typeface="Calibri"/>
                <a:cs typeface="Calibri"/>
              </a:rPr>
              <a:t> </a:t>
            </a:r>
            <a:r>
              <a:rPr sz="2450" dirty="0">
                <a:latin typeface="Calibri"/>
                <a:cs typeface="Calibri"/>
              </a:rPr>
              <a:t>we</a:t>
            </a:r>
            <a:r>
              <a:rPr sz="2450" spc="15" dirty="0">
                <a:latin typeface="Calibri"/>
                <a:cs typeface="Calibri"/>
              </a:rPr>
              <a:t> </a:t>
            </a:r>
            <a:r>
              <a:rPr sz="2450" dirty="0">
                <a:latin typeface="Calibri"/>
                <a:cs typeface="Calibri"/>
              </a:rPr>
              <a:t>can</a:t>
            </a:r>
            <a:r>
              <a:rPr sz="2450" spc="20" dirty="0">
                <a:latin typeface="Calibri"/>
                <a:cs typeface="Calibri"/>
              </a:rPr>
              <a:t> </a:t>
            </a:r>
            <a:r>
              <a:rPr sz="2450" dirty="0">
                <a:latin typeface="Calibri"/>
                <a:cs typeface="Calibri"/>
              </a:rPr>
              <a:t>keep</a:t>
            </a:r>
            <a:r>
              <a:rPr sz="2450" spc="20" dirty="0">
                <a:latin typeface="Calibri"/>
                <a:cs typeface="Calibri"/>
              </a:rPr>
              <a:t> </a:t>
            </a:r>
            <a:r>
              <a:rPr sz="2450" dirty="0">
                <a:latin typeface="Calibri"/>
                <a:cs typeface="Calibri"/>
              </a:rPr>
              <a:t>tabs</a:t>
            </a:r>
            <a:r>
              <a:rPr sz="2450" spc="-25" dirty="0">
                <a:latin typeface="Calibri"/>
                <a:cs typeface="Calibri"/>
              </a:rPr>
              <a:t> </a:t>
            </a:r>
            <a:r>
              <a:rPr sz="2450" dirty="0">
                <a:latin typeface="Calibri"/>
                <a:cs typeface="Calibri"/>
              </a:rPr>
              <a:t>on</a:t>
            </a:r>
            <a:r>
              <a:rPr sz="2450" spc="20" dirty="0">
                <a:latin typeface="Calibri"/>
                <a:cs typeface="Calibri"/>
              </a:rPr>
              <a:t> </a:t>
            </a:r>
            <a:r>
              <a:rPr sz="2450" dirty="0">
                <a:latin typeface="Calibri"/>
                <a:cs typeface="Calibri"/>
              </a:rPr>
              <a:t>who’s</a:t>
            </a:r>
            <a:r>
              <a:rPr sz="2450" spc="-20" dirty="0">
                <a:latin typeface="Calibri"/>
                <a:cs typeface="Calibri"/>
              </a:rPr>
              <a:t> </a:t>
            </a:r>
            <a:r>
              <a:rPr sz="2450" spc="-10" dirty="0">
                <a:latin typeface="Calibri"/>
                <a:cs typeface="Calibri"/>
              </a:rPr>
              <a:t>accessing </a:t>
            </a:r>
            <a:r>
              <a:rPr sz="2450" dirty="0">
                <a:latin typeface="Calibri"/>
                <a:cs typeface="Calibri"/>
              </a:rPr>
              <a:t>our</a:t>
            </a:r>
            <a:r>
              <a:rPr sz="2450" spc="25" dirty="0">
                <a:latin typeface="Calibri"/>
                <a:cs typeface="Calibri"/>
              </a:rPr>
              <a:t> </a:t>
            </a:r>
            <a:r>
              <a:rPr sz="2450" dirty="0">
                <a:latin typeface="Calibri"/>
                <a:cs typeface="Calibri"/>
              </a:rPr>
              <a:t>most</a:t>
            </a:r>
            <a:r>
              <a:rPr sz="2450" spc="70" dirty="0">
                <a:latin typeface="Calibri"/>
                <a:cs typeface="Calibri"/>
              </a:rPr>
              <a:t> </a:t>
            </a:r>
            <a:r>
              <a:rPr sz="2450" dirty="0">
                <a:latin typeface="Calibri"/>
                <a:cs typeface="Calibri"/>
              </a:rPr>
              <a:t>sensitive</a:t>
            </a:r>
            <a:r>
              <a:rPr sz="2450" spc="40" dirty="0">
                <a:latin typeface="Calibri"/>
                <a:cs typeface="Calibri"/>
              </a:rPr>
              <a:t> </a:t>
            </a:r>
            <a:r>
              <a:rPr sz="2450" dirty="0">
                <a:latin typeface="Calibri"/>
                <a:cs typeface="Calibri"/>
              </a:rPr>
              <a:t>data</a:t>
            </a:r>
            <a:r>
              <a:rPr sz="2450" spc="75" dirty="0">
                <a:latin typeface="Calibri"/>
                <a:cs typeface="Calibri"/>
              </a:rPr>
              <a:t> </a:t>
            </a:r>
            <a:r>
              <a:rPr sz="2450" dirty="0">
                <a:latin typeface="Calibri"/>
                <a:cs typeface="Calibri"/>
              </a:rPr>
              <a:t>in</a:t>
            </a:r>
            <a:r>
              <a:rPr sz="2450" spc="40" dirty="0">
                <a:latin typeface="Calibri"/>
                <a:cs typeface="Calibri"/>
              </a:rPr>
              <a:t> </a:t>
            </a:r>
            <a:r>
              <a:rPr sz="2450" dirty="0">
                <a:latin typeface="Calibri"/>
                <a:cs typeface="Calibri"/>
              </a:rPr>
              <a:t>AWS?</a:t>
            </a:r>
            <a:r>
              <a:rPr sz="2450" spc="45" dirty="0">
                <a:latin typeface="Calibri"/>
                <a:cs typeface="Calibri"/>
              </a:rPr>
              <a:t> </a:t>
            </a:r>
            <a:r>
              <a:rPr sz="2450" dirty="0">
                <a:latin typeface="Calibri"/>
                <a:cs typeface="Calibri"/>
              </a:rPr>
              <a:t>Whether</a:t>
            </a:r>
            <a:r>
              <a:rPr sz="2450" spc="25" dirty="0">
                <a:latin typeface="Calibri"/>
                <a:cs typeface="Calibri"/>
              </a:rPr>
              <a:t> </a:t>
            </a:r>
            <a:r>
              <a:rPr sz="2450" dirty="0">
                <a:latin typeface="Calibri"/>
                <a:cs typeface="Calibri"/>
              </a:rPr>
              <a:t>it’s</a:t>
            </a:r>
            <a:r>
              <a:rPr sz="2450" spc="-5" dirty="0">
                <a:latin typeface="Calibri"/>
                <a:cs typeface="Calibri"/>
              </a:rPr>
              <a:t> </a:t>
            </a:r>
            <a:r>
              <a:rPr sz="2450" dirty="0">
                <a:latin typeface="Calibri"/>
                <a:cs typeface="Calibri"/>
              </a:rPr>
              <a:t>API</a:t>
            </a:r>
            <a:r>
              <a:rPr sz="2450" spc="-30" dirty="0">
                <a:latin typeface="Calibri"/>
                <a:cs typeface="Calibri"/>
              </a:rPr>
              <a:t> </a:t>
            </a:r>
            <a:r>
              <a:rPr sz="2450" spc="-10" dirty="0">
                <a:latin typeface="Calibri"/>
                <a:cs typeface="Calibri"/>
              </a:rPr>
              <a:t>keys, </a:t>
            </a:r>
            <a:r>
              <a:rPr sz="2450" dirty="0">
                <a:latin typeface="Calibri"/>
                <a:cs typeface="Calibri"/>
              </a:rPr>
              <a:t>database</a:t>
            </a:r>
            <a:r>
              <a:rPr sz="2450" spc="140" dirty="0">
                <a:latin typeface="Calibri"/>
                <a:cs typeface="Calibri"/>
              </a:rPr>
              <a:t> </a:t>
            </a:r>
            <a:r>
              <a:rPr sz="2450" dirty="0">
                <a:latin typeface="Calibri"/>
                <a:cs typeface="Calibri"/>
              </a:rPr>
              <a:t>credentials,</a:t>
            </a:r>
            <a:r>
              <a:rPr sz="2450" spc="5" dirty="0">
                <a:latin typeface="Calibri"/>
                <a:cs typeface="Calibri"/>
              </a:rPr>
              <a:t> </a:t>
            </a:r>
            <a:r>
              <a:rPr sz="2450" dirty="0">
                <a:latin typeface="Calibri"/>
                <a:cs typeface="Calibri"/>
              </a:rPr>
              <a:t>or</a:t>
            </a:r>
            <a:r>
              <a:rPr sz="2450" spc="50" dirty="0">
                <a:latin typeface="Calibri"/>
                <a:cs typeface="Calibri"/>
              </a:rPr>
              <a:t> </a:t>
            </a:r>
            <a:r>
              <a:rPr sz="2450" dirty="0">
                <a:latin typeface="Calibri"/>
                <a:cs typeface="Calibri"/>
              </a:rPr>
              <a:t>other</a:t>
            </a:r>
            <a:r>
              <a:rPr sz="2450" spc="50" dirty="0">
                <a:latin typeface="Calibri"/>
                <a:cs typeface="Calibri"/>
              </a:rPr>
              <a:t> </a:t>
            </a:r>
            <a:r>
              <a:rPr sz="2450" dirty="0">
                <a:latin typeface="Calibri"/>
                <a:cs typeface="Calibri"/>
              </a:rPr>
              <a:t>critical</a:t>
            </a:r>
            <a:r>
              <a:rPr sz="2450" spc="45" dirty="0">
                <a:latin typeface="Calibri"/>
                <a:cs typeface="Calibri"/>
              </a:rPr>
              <a:t> </a:t>
            </a:r>
            <a:r>
              <a:rPr sz="2450" dirty="0">
                <a:latin typeface="Calibri"/>
                <a:cs typeface="Calibri"/>
              </a:rPr>
              <a:t>secrets,</a:t>
            </a:r>
            <a:r>
              <a:rPr sz="2450" spc="75" dirty="0">
                <a:latin typeface="Calibri"/>
                <a:cs typeface="Calibri"/>
              </a:rPr>
              <a:t> </a:t>
            </a:r>
            <a:r>
              <a:rPr sz="2450" dirty="0">
                <a:latin typeface="Calibri"/>
                <a:cs typeface="Calibri"/>
              </a:rPr>
              <a:t>every</a:t>
            </a:r>
            <a:r>
              <a:rPr sz="2450" spc="15" dirty="0">
                <a:latin typeface="Calibri"/>
                <a:cs typeface="Calibri"/>
              </a:rPr>
              <a:t> </a:t>
            </a:r>
            <a:r>
              <a:rPr sz="2450" spc="-10" dirty="0">
                <a:latin typeface="Calibri"/>
                <a:cs typeface="Calibri"/>
              </a:rPr>
              <a:t>access </a:t>
            </a:r>
            <a:r>
              <a:rPr sz="2450" dirty="0">
                <a:latin typeface="Calibri"/>
                <a:cs typeface="Calibri"/>
              </a:rPr>
              <a:t>poses</a:t>
            </a:r>
            <a:r>
              <a:rPr sz="2450" spc="-20" dirty="0">
                <a:latin typeface="Calibri"/>
                <a:cs typeface="Calibri"/>
              </a:rPr>
              <a:t> </a:t>
            </a:r>
            <a:r>
              <a:rPr sz="2450" dirty="0">
                <a:latin typeface="Calibri"/>
                <a:cs typeface="Calibri"/>
              </a:rPr>
              <a:t>a</a:t>
            </a:r>
            <a:r>
              <a:rPr sz="2450" spc="70" dirty="0">
                <a:latin typeface="Calibri"/>
                <a:cs typeface="Calibri"/>
              </a:rPr>
              <a:t> </a:t>
            </a:r>
            <a:r>
              <a:rPr sz="2450" dirty="0">
                <a:latin typeface="Calibri"/>
                <a:cs typeface="Calibri"/>
              </a:rPr>
              <a:t>potential</a:t>
            </a:r>
            <a:r>
              <a:rPr sz="2450" spc="15" dirty="0">
                <a:latin typeface="Calibri"/>
                <a:cs typeface="Calibri"/>
              </a:rPr>
              <a:t> </a:t>
            </a:r>
            <a:r>
              <a:rPr sz="2450" dirty="0">
                <a:latin typeface="Calibri"/>
                <a:cs typeface="Calibri"/>
              </a:rPr>
              <a:t>security</a:t>
            </a:r>
            <a:r>
              <a:rPr sz="2450" spc="55" dirty="0">
                <a:latin typeface="Calibri"/>
                <a:cs typeface="Calibri"/>
              </a:rPr>
              <a:t> </a:t>
            </a:r>
            <a:r>
              <a:rPr sz="2450" dirty="0">
                <a:latin typeface="Calibri"/>
                <a:cs typeface="Calibri"/>
              </a:rPr>
              <a:t>risk.</a:t>
            </a:r>
            <a:r>
              <a:rPr sz="2450" spc="40" dirty="0">
                <a:latin typeface="Calibri"/>
                <a:cs typeface="Calibri"/>
              </a:rPr>
              <a:t> </a:t>
            </a:r>
            <a:r>
              <a:rPr sz="2450" dirty="0">
                <a:latin typeface="Calibri"/>
                <a:cs typeface="Calibri"/>
              </a:rPr>
              <a:t>That’s</a:t>
            </a:r>
            <a:r>
              <a:rPr sz="2450" spc="60" dirty="0">
                <a:latin typeface="Calibri"/>
                <a:cs typeface="Calibri"/>
              </a:rPr>
              <a:t> </a:t>
            </a:r>
            <a:r>
              <a:rPr sz="2450" dirty="0">
                <a:latin typeface="Calibri"/>
                <a:cs typeface="Calibri"/>
              </a:rPr>
              <a:t>why</a:t>
            </a:r>
            <a:r>
              <a:rPr sz="2450" spc="65" dirty="0">
                <a:latin typeface="Calibri"/>
                <a:cs typeface="Calibri"/>
              </a:rPr>
              <a:t> </a:t>
            </a:r>
            <a:r>
              <a:rPr sz="2450" dirty="0">
                <a:latin typeface="Calibri"/>
                <a:cs typeface="Calibri"/>
              </a:rPr>
              <a:t>organizations</a:t>
            </a:r>
            <a:r>
              <a:rPr sz="2450" spc="65" dirty="0">
                <a:latin typeface="Calibri"/>
                <a:cs typeface="Calibri"/>
              </a:rPr>
              <a:t> </a:t>
            </a:r>
            <a:r>
              <a:rPr sz="2450" spc="-10" dirty="0">
                <a:latin typeface="Calibri"/>
                <a:cs typeface="Calibri"/>
              </a:rPr>
              <a:t>invest </a:t>
            </a:r>
            <a:r>
              <a:rPr sz="2450" dirty="0">
                <a:latin typeface="Calibri"/>
                <a:cs typeface="Calibri"/>
              </a:rPr>
              <a:t>heavily</a:t>
            </a:r>
            <a:r>
              <a:rPr sz="2450" spc="80" dirty="0">
                <a:latin typeface="Calibri"/>
                <a:cs typeface="Calibri"/>
              </a:rPr>
              <a:t> </a:t>
            </a:r>
            <a:r>
              <a:rPr sz="2450" dirty="0">
                <a:latin typeface="Calibri"/>
                <a:cs typeface="Calibri"/>
              </a:rPr>
              <a:t>in</a:t>
            </a:r>
            <a:r>
              <a:rPr sz="2450" spc="55" dirty="0">
                <a:latin typeface="Calibri"/>
                <a:cs typeface="Calibri"/>
              </a:rPr>
              <a:t> </a:t>
            </a:r>
            <a:r>
              <a:rPr sz="2450" dirty="0">
                <a:latin typeface="Calibri"/>
                <a:cs typeface="Calibri"/>
              </a:rPr>
              <a:t>robust</a:t>
            </a:r>
            <a:r>
              <a:rPr sz="2450" spc="5" dirty="0">
                <a:latin typeface="Calibri"/>
                <a:cs typeface="Calibri"/>
              </a:rPr>
              <a:t> </a:t>
            </a:r>
            <a:r>
              <a:rPr sz="2450" dirty="0">
                <a:latin typeface="Calibri"/>
                <a:cs typeface="Calibri"/>
              </a:rPr>
              <a:t>monitoring</a:t>
            </a:r>
            <a:r>
              <a:rPr sz="2450" spc="40" dirty="0">
                <a:latin typeface="Calibri"/>
                <a:cs typeface="Calibri"/>
              </a:rPr>
              <a:t> </a:t>
            </a:r>
            <a:r>
              <a:rPr sz="2450" dirty="0">
                <a:latin typeface="Calibri"/>
                <a:cs typeface="Calibri"/>
              </a:rPr>
              <a:t>systems</a:t>
            </a:r>
            <a:r>
              <a:rPr sz="2450" spc="15" dirty="0">
                <a:latin typeface="Calibri"/>
                <a:cs typeface="Calibri"/>
              </a:rPr>
              <a:t> </a:t>
            </a:r>
            <a:r>
              <a:rPr sz="2450" dirty="0">
                <a:latin typeface="Calibri"/>
                <a:cs typeface="Calibri"/>
              </a:rPr>
              <a:t>to</a:t>
            </a:r>
            <a:r>
              <a:rPr sz="2450" spc="45" dirty="0">
                <a:latin typeface="Calibri"/>
                <a:cs typeface="Calibri"/>
              </a:rPr>
              <a:t> </a:t>
            </a:r>
            <a:r>
              <a:rPr sz="2450" dirty="0">
                <a:latin typeface="Calibri"/>
                <a:cs typeface="Calibri"/>
              </a:rPr>
              <a:t>track</a:t>
            </a:r>
            <a:r>
              <a:rPr sz="2450" spc="5" dirty="0">
                <a:latin typeface="Calibri"/>
                <a:cs typeface="Calibri"/>
              </a:rPr>
              <a:t> </a:t>
            </a:r>
            <a:r>
              <a:rPr sz="2450" dirty="0">
                <a:latin typeface="Calibri"/>
                <a:cs typeface="Calibri"/>
              </a:rPr>
              <a:t>and</a:t>
            </a:r>
            <a:r>
              <a:rPr sz="2450" spc="55" dirty="0">
                <a:latin typeface="Calibri"/>
                <a:cs typeface="Calibri"/>
              </a:rPr>
              <a:t> </a:t>
            </a:r>
            <a:r>
              <a:rPr sz="2450" dirty="0">
                <a:latin typeface="Calibri"/>
                <a:cs typeface="Calibri"/>
              </a:rPr>
              <a:t>alert</a:t>
            </a:r>
            <a:r>
              <a:rPr sz="2450" spc="-5" dirty="0">
                <a:latin typeface="Calibri"/>
                <a:cs typeface="Calibri"/>
              </a:rPr>
              <a:t> </a:t>
            </a:r>
            <a:r>
              <a:rPr sz="2450" dirty="0">
                <a:latin typeface="Calibri"/>
                <a:cs typeface="Calibri"/>
              </a:rPr>
              <a:t>on</a:t>
            </a:r>
            <a:r>
              <a:rPr sz="2450" spc="60" dirty="0">
                <a:latin typeface="Calibri"/>
                <a:cs typeface="Calibri"/>
              </a:rPr>
              <a:t> </a:t>
            </a:r>
            <a:r>
              <a:rPr sz="2450" spc="-25" dirty="0">
                <a:latin typeface="Calibri"/>
                <a:cs typeface="Calibri"/>
              </a:rPr>
              <a:t>any </a:t>
            </a:r>
            <a:r>
              <a:rPr sz="2450" dirty="0">
                <a:latin typeface="Calibri"/>
                <a:cs typeface="Calibri"/>
              </a:rPr>
              <a:t>unusual</a:t>
            </a:r>
            <a:r>
              <a:rPr sz="2450" spc="65" dirty="0">
                <a:latin typeface="Calibri"/>
                <a:cs typeface="Calibri"/>
              </a:rPr>
              <a:t> </a:t>
            </a:r>
            <a:r>
              <a:rPr sz="2450" spc="-10" dirty="0">
                <a:latin typeface="Calibri"/>
                <a:cs typeface="Calibri"/>
              </a:rPr>
              <a:t>activity</a:t>
            </a:r>
            <a:endParaRPr sz="2450" dirty="0">
              <a:latin typeface="Calibri"/>
              <a:cs typeface="Calibri"/>
            </a:endParaRPr>
          </a:p>
          <a:p>
            <a:pPr>
              <a:lnSpc>
                <a:spcPct val="100000"/>
              </a:lnSpc>
              <a:spcBef>
                <a:spcPts val="605"/>
              </a:spcBef>
              <a:buFont typeface="Calibri"/>
              <a:buChar char="•"/>
            </a:pPr>
            <a:endParaRPr sz="2450" dirty="0">
              <a:latin typeface="Calibri"/>
              <a:cs typeface="Calibri"/>
            </a:endParaRPr>
          </a:p>
          <a:p>
            <a:pPr marL="12700" marR="222885" indent="304165">
              <a:lnSpc>
                <a:spcPts val="2400"/>
              </a:lnSpc>
              <a:buChar char="•"/>
              <a:tabLst>
                <a:tab pos="316865" algn="l"/>
              </a:tabLst>
            </a:pPr>
            <a:r>
              <a:rPr lang="en-US" sz="2450" dirty="0">
                <a:latin typeface="+mn-lt"/>
              </a:rPr>
              <a:t>In this group project, we built a powerful monitoring system using AWS. Protecting data was an essential skill for roles such as Security Engineer, DevOps Engineer, and Systems or Cloud Administrator. By working together, we gained hands-on experience in designing, deploying, and maintaining a complete audit and alerting solution.</a:t>
            </a:r>
            <a:endParaRPr sz="2450" dirty="0">
              <a:latin typeface="+mn-lt"/>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599" y="609600"/>
            <a:ext cx="7391401" cy="570669"/>
          </a:xfrm>
          <a:prstGeom prst="rect">
            <a:avLst/>
          </a:prstGeom>
        </p:spPr>
        <p:txBody>
          <a:bodyPr vert="horz" wrap="square" lIns="0" tIns="16510" rIns="0" bIns="0" rtlCol="0">
            <a:spAutoFit/>
          </a:bodyPr>
          <a:lstStyle/>
          <a:p>
            <a:pPr marL="622300">
              <a:lnSpc>
                <a:spcPct val="100000"/>
              </a:lnSpc>
              <a:spcBef>
                <a:spcPts val="130"/>
              </a:spcBef>
            </a:pPr>
            <a:r>
              <a:rPr lang="en-IN" dirty="0"/>
              <a:t>         </a:t>
            </a:r>
            <a:r>
              <a:rPr dirty="0"/>
              <a:t>Problem</a:t>
            </a:r>
            <a:r>
              <a:rPr spc="-135" dirty="0"/>
              <a:t> </a:t>
            </a:r>
            <a:r>
              <a:rPr spc="-10" dirty="0"/>
              <a:t>Statement</a:t>
            </a:r>
          </a:p>
        </p:txBody>
      </p:sp>
      <p:sp>
        <p:nvSpPr>
          <p:cNvPr id="3" name="object 3"/>
          <p:cNvSpPr txBox="1"/>
          <p:nvPr/>
        </p:nvSpPr>
        <p:spPr>
          <a:xfrm>
            <a:off x="536575" y="1923414"/>
            <a:ext cx="7952740" cy="3150870"/>
          </a:xfrm>
          <a:prstGeom prst="rect">
            <a:avLst/>
          </a:prstGeom>
        </p:spPr>
        <p:txBody>
          <a:bodyPr vert="horz" wrap="square" lIns="0" tIns="16510" rIns="0" bIns="0" rtlCol="0">
            <a:spAutoFit/>
          </a:bodyPr>
          <a:lstStyle/>
          <a:p>
            <a:pPr marL="307340" indent="-294640">
              <a:lnSpc>
                <a:spcPts val="3835"/>
              </a:lnSpc>
              <a:spcBef>
                <a:spcPts val="130"/>
              </a:spcBef>
              <a:buChar char="•"/>
              <a:tabLst>
                <a:tab pos="307340" algn="l"/>
              </a:tabLst>
            </a:pPr>
            <a:r>
              <a:rPr sz="3200" dirty="0">
                <a:latin typeface="Calibri"/>
                <a:cs typeface="Calibri"/>
              </a:rPr>
              <a:t>Security</a:t>
            </a:r>
            <a:r>
              <a:rPr sz="3200" spc="-75" dirty="0">
                <a:latin typeface="Calibri"/>
                <a:cs typeface="Calibri"/>
              </a:rPr>
              <a:t> </a:t>
            </a:r>
            <a:r>
              <a:rPr sz="3200" dirty="0">
                <a:latin typeface="Calibri"/>
                <a:cs typeface="Calibri"/>
              </a:rPr>
              <a:t>breaches</a:t>
            </a:r>
            <a:r>
              <a:rPr sz="3200" spc="-35" dirty="0">
                <a:latin typeface="Calibri"/>
                <a:cs typeface="Calibri"/>
              </a:rPr>
              <a:t> </a:t>
            </a:r>
            <a:r>
              <a:rPr sz="3200" dirty="0">
                <a:latin typeface="Calibri"/>
                <a:cs typeface="Calibri"/>
              </a:rPr>
              <a:t>are</a:t>
            </a:r>
            <a:r>
              <a:rPr sz="3200" spc="-135" dirty="0">
                <a:latin typeface="Calibri"/>
                <a:cs typeface="Calibri"/>
              </a:rPr>
              <a:t> </a:t>
            </a:r>
            <a:r>
              <a:rPr sz="3200" dirty="0">
                <a:latin typeface="Calibri"/>
                <a:cs typeface="Calibri"/>
              </a:rPr>
              <a:t>increasing</a:t>
            </a:r>
            <a:r>
              <a:rPr sz="3200" spc="-125" dirty="0">
                <a:latin typeface="Calibri"/>
                <a:cs typeface="Calibri"/>
              </a:rPr>
              <a:t> </a:t>
            </a:r>
            <a:r>
              <a:rPr sz="3200" dirty="0">
                <a:latin typeface="Calibri"/>
                <a:cs typeface="Calibri"/>
              </a:rPr>
              <a:t>in</a:t>
            </a:r>
            <a:r>
              <a:rPr sz="3200" spc="-75" dirty="0">
                <a:latin typeface="Calibri"/>
                <a:cs typeface="Calibri"/>
              </a:rPr>
              <a:t> </a:t>
            </a:r>
            <a:r>
              <a:rPr sz="3200" spc="-10" dirty="0">
                <a:latin typeface="Calibri"/>
                <a:cs typeface="Calibri"/>
              </a:rPr>
              <a:t>cloud</a:t>
            </a:r>
            <a:endParaRPr lang="en-IN" sz="3200" dirty="0">
              <a:latin typeface="Calibri"/>
              <a:cs typeface="Calibri"/>
            </a:endParaRPr>
          </a:p>
          <a:p>
            <a:pPr marL="12700">
              <a:lnSpc>
                <a:spcPts val="3835"/>
              </a:lnSpc>
              <a:spcBef>
                <a:spcPts val="130"/>
              </a:spcBef>
              <a:tabLst>
                <a:tab pos="307340" algn="l"/>
              </a:tabLst>
            </a:pPr>
            <a:r>
              <a:rPr lang="en-IN" sz="3200" spc="-10" dirty="0">
                <a:latin typeface="Calibri"/>
                <a:cs typeface="Calibri"/>
              </a:rPr>
              <a:t>   </a:t>
            </a:r>
            <a:r>
              <a:rPr sz="3200" spc="-10" dirty="0">
                <a:latin typeface="Calibri"/>
                <a:cs typeface="Calibri"/>
              </a:rPr>
              <a:t>infrastructure.</a:t>
            </a:r>
            <a:endParaRPr sz="3200" dirty="0">
              <a:latin typeface="Calibri"/>
              <a:cs typeface="Calibri"/>
            </a:endParaRPr>
          </a:p>
          <a:p>
            <a:pPr marL="307340" indent="-294640">
              <a:lnSpc>
                <a:spcPts val="3835"/>
              </a:lnSpc>
              <a:spcBef>
                <a:spcPts val="815"/>
              </a:spcBef>
              <a:buChar char="•"/>
              <a:tabLst>
                <a:tab pos="307340" algn="l"/>
              </a:tabLst>
            </a:pPr>
            <a:r>
              <a:rPr sz="3200" spc="-25" dirty="0">
                <a:latin typeface="Calibri"/>
                <a:cs typeface="Calibri"/>
              </a:rPr>
              <a:t>Traditional</a:t>
            </a:r>
            <a:r>
              <a:rPr sz="3200" spc="-114" dirty="0">
                <a:latin typeface="Calibri"/>
                <a:cs typeface="Calibri"/>
              </a:rPr>
              <a:t> </a:t>
            </a:r>
            <a:r>
              <a:rPr sz="3200" dirty="0">
                <a:latin typeface="Calibri"/>
                <a:cs typeface="Calibri"/>
              </a:rPr>
              <a:t>monitoring</a:t>
            </a:r>
            <a:r>
              <a:rPr sz="3200" spc="-75" dirty="0">
                <a:latin typeface="Calibri"/>
                <a:cs typeface="Calibri"/>
              </a:rPr>
              <a:t> </a:t>
            </a:r>
            <a:r>
              <a:rPr sz="3200" spc="-20" dirty="0">
                <a:latin typeface="Calibri"/>
                <a:cs typeface="Calibri"/>
              </a:rPr>
              <a:t>systems</a:t>
            </a:r>
            <a:r>
              <a:rPr sz="3200" spc="-110" dirty="0">
                <a:latin typeface="Calibri"/>
                <a:cs typeface="Calibri"/>
              </a:rPr>
              <a:t> </a:t>
            </a:r>
            <a:r>
              <a:rPr sz="3200" dirty="0">
                <a:latin typeface="Calibri"/>
                <a:cs typeface="Calibri"/>
              </a:rPr>
              <a:t>are</a:t>
            </a:r>
            <a:r>
              <a:rPr sz="3200" spc="-85" dirty="0">
                <a:latin typeface="Calibri"/>
                <a:cs typeface="Calibri"/>
              </a:rPr>
              <a:t> </a:t>
            </a:r>
            <a:r>
              <a:rPr sz="3200" spc="-10" dirty="0">
                <a:latin typeface="Calibri"/>
                <a:cs typeface="Calibri"/>
              </a:rPr>
              <a:t>insufficient</a:t>
            </a:r>
            <a:endParaRPr sz="3200" dirty="0">
              <a:latin typeface="Calibri"/>
              <a:cs typeface="Calibri"/>
            </a:endParaRPr>
          </a:p>
          <a:p>
            <a:pPr marL="12700">
              <a:lnSpc>
                <a:spcPts val="3835"/>
              </a:lnSpc>
            </a:pPr>
            <a:r>
              <a:rPr lang="en-IN" sz="3200" dirty="0">
                <a:latin typeface="Calibri"/>
                <a:cs typeface="Calibri"/>
              </a:rPr>
              <a:t>    </a:t>
            </a:r>
            <a:r>
              <a:rPr sz="3200" dirty="0">
                <a:latin typeface="Calibri"/>
                <a:cs typeface="Calibri"/>
              </a:rPr>
              <a:t>for</a:t>
            </a:r>
            <a:r>
              <a:rPr sz="3200" spc="-135" dirty="0">
                <a:latin typeface="Calibri"/>
                <a:cs typeface="Calibri"/>
              </a:rPr>
              <a:t> </a:t>
            </a:r>
            <a:r>
              <a:rPr sz="3200" dirty="0">
                <a:latin typeface="Calibri"/>
                <a:cs typeface="Calibri"/>
              </a:rPr>
              <a:t>dynamic,</a:t>
            </a:r>
            <a:r>
              <a:rPr sz="3200" spc="-125" dirty="0">
                <a:latin typeface="Calibri"/>
                <a:cs typeface="Calibri"/>
              </a:rPr>
              <a:t> </a:t>
            </a:r>
            <a:r>
              <a:rPr sz="3200" dirty="0">
                <a:latin typeface="Calibri"/>
                <a:cs typeface="Calibri"/>
              </a:rPr>
              <a:t>scalable</a:t>
            </a:r>
            <a:r>
              <a:rPr sz="3200" spc="-90" dirty="0">
                <a:latin typeface="Calibri"/>
                <a:cs typeface="Calibri"/>
              </a:rPr>
              <a:t> </a:t>
            </a:r>
            <a:r>
              <a:rPr sz="3200" spc="-10" dirty="0">
                <a:latin typeface="Calibri"/>
                <a:cs typeface="Calibri"/>
              </a:rPr>
              <a:t>AWS</a:t>
            </a:r>
            <a:r>
              <a:rPr sz="3200" spc="-60" dirty="0">
                <a:latin typeface="Calibri"/>
                <a:cs typeface="Calibri"/>
              </a:rPr>
              <a:t> </a:t>
            </a:r>
            <a:r>
              <a:rPr sz="3200" spc="-10" dirty="0">
                <a:latin typeface="Calibri"/>
                <a:cs typeface="Calibri"/>
              </a:rPr>
              <a:t>environments.</a:t>
            </a:r>
            <a:endParaRPr sz="3200" dirty="0">
              <a:latin typeface="Calibri"/>
              <a:cs typeface="Calibri"/>
            </a:endParaRPr>
          </a:p>
          <a:p>
            <a:pPr marL="12700" marR="350520" indent="294005">
              <a:lnSpc>
                <a:spcPct val="100000"/>
              </a:lnSpc>
              <a:spcBef>
                <a:spcPts val="745"/>
              </a:spcBef>
              <a:buChar char="•"/>
              <a:tabLst>
                <a:tab pos="306705" algn="l"/>
              </a:tabLst>
            </a:pPr>
            <a:r>
              <a:rPr sz="3200" dirty="0">
                <a:latin typeface="Calibri"/>
                <a:cs typeface="Calibri"/>
              </a:rPr>
              <a:t>Need</a:t>
            </a:r>
            <a:r>
              <a:rPr sz="3200" spc="-65" dirty="0">
                <a:latin typeface="Calibri"/>
                <a:cs typeface="Calibri"/>
              </a:rPr>
              <a:t> </a:t>
            </a:r>
            <a:r>
              <a:rPr sz="3200" dirty="0">
                <a:latin typeface="Calibri"/>
                <a:cs typeface="Calibri"/>
              </a:rPr>
              <a:t>for</a:t>
            </a:r>
            <a:r>
              <a:rPr sz="3200" spc="-90" dirty="0">
                <a:latin typeface="Calibri"/>
                <a:cs typeface="Calibri"/>
              </a:rPr>
              <a:t> </a:t>
            </a:r>
            <a:r>
              <a:rPr sz="3200" spc="-10" dirty="0">
                <a:latin typeface="Calibri"/>
                <a:cs typeface="Calibri"/>
              </a:rPr>
              <a:t>real-</a:t>
            </a:r>
            <a:r>
              <a:rPr sz="3200" dirty="0">
                <a:latin typeface="Calibri"/>
                <a:cs typeface="Calibri"/>
              </a:rPr>
              <a:t>time,</a:t>
            </a:r>
            <a:r>
              <a:rPr sz="3200" spc="-75" dirty="0">
                <a:latin typeface="Calibri"/>
                <a:cs typeface="Calibri"/>
              </a:rPr>
              <a:t> </a:t>
            </a:r>
            <a:r>
              <a:rPr sz="3200" spc="-10" dirty="0">
                <a:latin typeface="Calibri"/>
                <a:cs typeface="Calibri"/>
              </a:rPr>
              <a:t>automated,</a:t>
            </a:r>
            <a:r>
              <a:rPr sz="3200" spc="-70" dirty="0">
                <a:latin typeface="Calibri"/>
                <a:cs typeface="Calibri"/>
              </a:rPr>
              <a:t> </a:t>
            </a:r>
            <a:r>
              <a:rPr sz="3200" dirty="0">
                <a:latin typeface="Calibri"/>
                <a:cs typeface="Calibri"/>
              </a:rPr>
              <a:t>and</a:t>
            </a:r>
            <a:r>
              <a:rPr sz="3200" spc="5" dirty="0">
                <a:latin typeface="Calibri"/>
                <a:cs typeface="Calibri"/>
              </a:rPr>
              <a:t> </a:t>
            </a:r>
            <a:r>
              <a:rPr sz="3200" spc="-10" dirty="0">
                <a:latin typeface="Calibri"/>
                <a:cs typeface="Calibri"/>
              </a:rPr>
              <a:t>scalable </a:t>
            </a:r>
            <a:r>
              <a:rPr lang="en-IN" sz="3200" spc="-10" dirty="0">
                <a:latin typeface="Calibri"/>
                <a:cs typeface="Calibri"/>
              </a:rPr>
              <a:t>      </a:t>
            </a:r>
            <a:r>
              <a:rPr lang="en-IN" sz="3200" dirty="0">
                <a:latin typeface="Calibri"/>
                <a:cs typeface="Calibri"/>
              </a:rPr>
              <a:t>         	</a:t>
            </a:r>
            <a:r>
              <a:rPr sz="3200" dirty="0">
                <a:latin typeface="Calibri"/>
                <a:cs typeface="Calibri"/>
              </a:rPr>
              <a:t>security</a:t>
            </a:r>
            <a:r>
              <a:rPr sz="3200" spc="-100" dirty="0">
                <a:latin typeface="Calibri"/>
                <a:cs typeface="Calibri"/>
              </a:rPr>
              <a:t> </a:t>
            </a:r>
            <a:r>
              <a:rPr sz="3200" spc="-10" dirty="0">
                <a:latin typeface="Calibri"/>
                <a:cs typeface="Calibri"/>
              </a:rPr>
              <a:t>monitoring.</a:t>
            </a:r>
            <a:endParaRPr sz="3200" dirty="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599" y="609600"/>
            <a:ext cx="7391401" cy="570669"/>
          </a:xfrm>
          <a:prstGeom prst="rect">
            <a:avLst/>
          </a:prstGeom>
        </p:spPr>
        <p:txBody>
          <a:bodyPr vert="horz" wrap="square" lIns="0" tIns="16510" rIns="0" bIns="0" rtlCol="0">
            <a:spAutoFit/>
          </a:bodyPr>
          <a:lstStyle/>
          <a:p>
            <a:pPr marL="744855">
              <a:lnSpc>
                <a:spcPct val="100000"/>
              </a:lnSpc>
              <a:spcBef>
                <a:spcPts val="130"/>
              </a:spcBef>
            </a:pPr>
            <a:r>
              <a:rPr lang="en-IN" dirty="0"/>
              <a:t>         </a:t>
            </a:r>
            <a:r>
              <a:rPr dirty="0"/>
              <a:t>Solution</a:t>
            </a:r>
            <a:r>
              <a:rPr spc="-65" dirty="0"/>
              <a:t> </a:t>
            </a:r>
            <a:r>
              <a:rPr spc="-10" dirty="0"/>
              <a:t>Overview</a:t>
            </a:r>
          </a:p>
        </p:txBody>
      </p:sp>
      <p:sp>
        <p:nvSpPr>
          <p:cNvPr id="3" name="object 3"/>
          <p:cNvSpPr txBox="1"/>
          <p:nvPr/>
        </p:nvSpPr>
        <p:spPr>
          <a:xfrm>
            <a:off x="804227" y="1797430"/>
            <a:ext cx="7493000" cy="2753995"/>
          </a:xfrm>
          <a:prstGeom prst="rect">
            <a:avLst/>
          </a:prstGeom>
        </p:spPr>
        <p:txBody>
          <a:bodyPr vert="horz" wrap="square" lIns="0" tIns="106045" rIns="0" bIns="0" rtlCol="0">
            <a:spAutoFit/>
          </a:bodyPr>
          <a:lstStyle/>
          <a:p>
            <a:pPr marL="307340" indent="-294640">
              <a:lnSpc>
                <a:spcPct val="100000"/>
              </a:lnSpc>
              <a:spcBef>
                <a:spcPts val="835"/>
              </a:spcBef>
              <a:buChar char="•"/>
              <a:tabLst>
                <a:tab pos="307340" algn="l"/>
              </a:tabLst>
            </a:pPr>
            <a:r>
              <a:rPr sz="3200" dirty="0">
                <a:latin typeface="Calibri"/>
                <a:cs typeface="Calibri"/>
              </a:rPr>
              <a:t>Built</a:t>
            </a:r>
            <a:r>
              <a:rPr sz="3200" spc="-90" dirty="0">
                <a:latin typeface="Calibri"/>
                <a:cs typeface="Calibri"/>
              </a:rPr>
              <a:t> </a:t>
            </a:r>
            <a:r>
              <a:rPr sz="3200" dirty="0">
                <a:latin typeface="Calibri"/>
                <a:cs typeface="Calibri"/>
              </a:rPr>
              <a:t>a</a:t>
            </a:r>
            <a:r>
              <a:rPr sz="3200" spc="-35" dirty="0">
                <a:latin typeface="Calibri"/>
                <a:cs typeface="Calibri"/>
              </a:rPr>
              <a:t> </a:t>
            </a:r>
            <a:r>
              <a:rPr sz="3200" dirty="0">
                <a:latin typeface="Calibri"/>
                <a:cs typeface="Calibri"/>
              </a:rPr>
              <a:t>Security</a:t>
            </a:r>
            <a:r>
              <a:rPr sz="3200" spc="-90" dirty="0">
                <a:latin typeface="Calibri"/>
                <a:cs typeface="Calibri"/>
              </a:rPr>
              <a:t> </a:t>
            </a:r>
            <a:r>
              <a:rPr sz="3200" dirty="0">
                <a:latin typeface="Calibri"/>
                <a:cs typeface="Calibri"/>
              </a:rPr>
              <a:t>Monitoring</a:t>
            </a:r>
            <a:r>
              <a:rPr sz="3200" spc="-80" dirty="0">
                <a:latin typeface="Calibri"/>
                <a:cs typeface="Calibri"/>
              </a:rPr>
              <a:t> </a:t>
            </a:r>
            <a:r>
              <a:rPr sz="3200" spc="-10" dirty="0">
                <a:latin typeface="Calibri"/>
                <a:cs typeface="Calibri"/>
              </a:rPr>
              <a:t>System</a:t>
            </a:r>
            <a:r>
              <a:rPr sz="3200" spc="-85" dirty="0">
                <a:latin typeface="Calibri"/>
                <a:cs typeface="Calibri"/>
              </a:rPr>
              <a:t> </a:t>
            </a:r>
            <a:r>
              <a:rPr sz="3200" dirty="0">
                <a:latin typeface="Calibri"/>
                <a:cs typeface="Calibri"/>
              </a:rPr>
              <a:t>on</a:t>
            </a:r>
            <a:r>
              <a:rPr sz="3200" spc="-100" dirty="0">
                <a:latin typeface="Calibri"/>
                <a:cs typeface="Calibri"/>
              </a:rPr>
              <a:t> </a:t>
            </a:r>
            <a:r>
              <a:rPr sz="3200" spc="-20" dirty="0">
                <a:latin typeface="Calibri"/>
                <a:cs typeface="Calibri"/>
              </a:rPr>
              <a:t>AWS.</a:t>
            </a:r>
            <a:endParaRPr sz="3200" dirty="0">
              <a:latin typeface="Calibri"/>
              <a:cs typeface="Calibri"/>
            </a:endParaRPr>
          </a:p>
          <a:p>
            <a:pPr marL="307340" indent="-294640">
              <a:lnSpc>
                <a:spcPct val="100000"/>
              </a:lnSpc>
              <a:spcBef>
                <a:spcPts val="745"/>
              </a:spcBef>
              <a:buChar char="•"/>
              <a:tabLst>
                <a:tab pos="307340" algn="l"/>
              </a:tabLst>
            </a:pPr>
            <a:r>
              <a:rPr sz="3200" dirty="0">
                <a:latin typeface="Calibri"/>
                <a:cs typeface="Calibri"/>
              </a:rPr>
              <a:t>Uses</a:t>
            </a:r>
            <a:r>
              <a:rPr sz="3200" spc="-40" dirty="0">
                <a:latin typeface="Calibri"/>
                <a:cs typeface="Calibri"/>
              </a:rPr>
              <a:t> </a:t>
            </a:r>
            <a:r>
              <a:rPr sz="3200" spc="-10" dirty="0">
                <a:latin typeface="Calibri"/>
                <a:cs typeface="Calibri"/>
              </a:rPr>
              <a:t>AWS</a:t>
            </a:r>
            <a:r>
              <a:rPr sz="3200" spc="-40" dirty="0">
                <a:latin typeface="Calibri"/>
                <a:cs typeface="Calibri"/>
              </a:rPr>
              <a:t> </a:t>
            </a:r>
            <a:r>
              <a:rPr sz="3200" dirty="0">
                <a:latin typeface="Calibri"/>
                <a:cs typeface="Calibri"/>
              </a:rPr>
              <a:t>native</a:t>
            </a:r>
            <a:r>
              <a:rPr sz="3200" spc="-80" dirty="0">
                <a:latin typeface="Calibri"/>
                <a:cs typeface="Calibri"/>
              </a:rPr>
              <a:t> </a:t>
            </a:r>
            <a:r>
              <a:rPr sz="3200" dirty="0">
                <a:latin typeface="Calibri"/>
                <a:cs typeface="Calibri"/>
              </a:rPr>
              <a:t>services</a:t>
            </a:r>
            <a:r>
              <a:rPr sz="3200" spc="-110" dirty="0">
                <a:latin typeface="Calibri"/>
                <a:cs typeface="Calibri"/>
              </a:rPr>
              <a:t> </a:t>
            </a:r>
            <a:r>
              <a:rPr sz="3200" dirty="0">
                <a:latin typeface="Calibri"/>
                <a:cs typeface="Calibri"/>
              </a:rPr>
              <a:t>to</a:t>
            </a:r>
            <a:r>
              <a:rPr sz="3200" spc="-100" dirty="0">
                <a:latin typeface="Calibri"/>
                <a:cs typeface="Calibri"/>
              </a:rPr>
              <a:t> </a:t>
            </a:r>
            <a:r>
              <a:rPr sz="3200" spc="-35" dirty="0">
                <a:latin typeface="Calibri"/>
                <a:cs typeface="Calibri"/>
              </a:rPr>
              <a:t>monitor,</a:t>
            </a:r>
            <a:r>
              <a:rPr sz="3200" spc="-100" dirty="0">
                <a:latin typeface="Calibri"/>
                <a:cs typeface="Calibri"/>
              </a:rPr>
              <a:t> </a:t>
            </a:r>
            <a:r>
              <a:rPr sz="3200" spc="-10" dirty="0">
                <a:latin typeface="Calibri"/>
                <a:cs typeface="Calibri"/>
              </a:rPr>
              <a:t>alert,</a:t>
            </a:r>
            <a:endParaRPr sz="3200" dirty="0">
              <a:latin typeface="Calibri"/>
              <a:cs typeface="Calibri"/>
            </a:endParaRPr>
          </a:p>
          <a:p>
            <a:pPr marL="12700">
              <a:lnSpc>
                <a:spcPct val="100000"/>
              </a:lnSpc>
              <a:spcBef>
                <a:spcPts val="65"/>
              </a:spcBef>
            </a:pPr>
            <a:r>
              <a:rPr lang="en-IN" sz="3200" dirty="0">
                <a:latin typeface="Calibri"/>
                <a:cs typeface="Calibri"/>
              </a:rPr>
              <a:t>   </a:t>
            </a:r>
            <a:r>
              <a:rPr sz="3200" dirty="0">
                <a:latin typeface="Calibri"/>
                <a:cs typeface="Calibri"/>
              </a:rPr>
              <a:t>and</a:t>
            </a:r>
            <a:r>
              <a:rPr sz="3200" spc="-30" dirty="0">
                <a:latin typeface="Calibri"/>
                <a:cs typeface="Calibri"/>
              </a:rPr>
              <a:t> </a:t>
            </a:r>
            <a:r>
              <a:rPr sz="3200" dirty="0">
                <a:latin typeface="Calibri"/>
                <a:cs typeface="Calibri"/>
              </a:rPr>
              <a:t>log</a:t>
            </a:r>
            <a:r>
              <a:rPr sz="3200" spc="-75" dirty="0">
                <a:latin typeface="Calibri"/>
                <a:cs typeface="Calibri"/>
              </a:rPr>
              <a:t> </a:t>
            </a:r>
            <a:r>
              <a:rPr sz="3200" dirty="0">
                <a:latin typeface="Calibri"/>
                <a:cs typeface="Calibri"/>
              </a:rPr>
              <a:t>security</a:t>
            </a:r>
            <a:r>
              <a:rPr sz="3200" spc="-15" dirty="0">
                <a:latin typeface="Calibri"/>
                <a:cs typeface="Calibri"/>
              </a:rPr>
              <a:t> </a:t>
            </a:r>
            <a:r>
              <a:rPr sz="3200" spc="-10" dirty="0">
                <a:latin typeface="Calibri"/>
                <a:cs typeface="Calibri"/>
              </a:rPr>
              <a:t>threats.</a:t>
            </a:r>
            <a:endParaRPr sz="3200" dirty="0">
              <a:latin typeface="Calibri"/>
              <a:cs typeface="Calibri"/>
            </a:endParaRPr>
          </a:p>
          <a:p>
            <a:pPr marL="307340" indent="-294640">
              <a:lnSpc>
                <a:spcPts val="3835"/>
              </a:lnSpc>
              <a:spcBef>
                <a:spcPts val="740"/>
              </a:spcBef>
              <a:buChar char="•"/>
              <a:tabLst>
                <a:tab pos="307340" algn="l"/>
              </a:tabLst>
            </a:pPr>
            <a:r>
              <a:rPr sz="3200" dirty="0">
                <a:latin typeface="Calibri"/>
                <a:cs typeface="Calibri"/>
              </a:rPr>
              <a:t>Designed</a:t>
            </a:r>
            <a:r>
              <a:rPr sz="3200" spc="-90" dirty="0">
                <a:latin typeface="Calibri"/>
                <a:cs typeface="Calibri"/>
              </a:rPr>
              <a:t> </a:t>
            </a:r>
            <a:r>
              <a:rPr sz="3200" dirty="0">
                <a:latin typeface="Calibri"/>
                <a:cs typeface="Calibri"/>
              </a:rPr>
              <a:t>for</a:t>
            </a:r>
            <a:r>
              <a:rPr sz="3200" spc="-110" dirty="0">
                <a:latin typeface="Calibri"/>
                <a:cs typeface="Calibri"/>
              </a:rPr>
              <a:t> </a:t>
            </a:r>
            <a:r>
              <a:rPr sz="3200" spc="-20" dirty="0">
                <a:latin typeface="Calibri"/>
                <a:cs typeface="Calibri"/>
              </a:rPr>
              <a:t>scalability,</a:t>
            </a:r>
            <a:r>
              <a:rPr sz="3200" spc="-95" dirty="0">
                <a:latin typeface="Calibri"/>
                <a:cs typeface="Calibri"/>
              </a:rPr>
              <a:t> </a:t>
            </a:r>
            <a:r>
              <a:rPr sz="3200" spc="-10" dirty="0">
                <a:latin typeface="Calibri"/>
                <a:cs typeface="Calibri"/>
              </a:rPr>
              <a:t>automation,</a:t>
            </a:r>
            <a:r>
              <a:rPr sz="3200" spc="-95" dirty="0">
                <a:latin typeface="Calibri"/>
                <a:cs typeface="Calibri"/>
              </a:rPr>
              <a:t> </a:t>
            </a:r>
            <a:r>
              <a:rPr sz="3200" spc="-25" dirty="0">
                <a:latin typeface="Calibri"/>
                <a:cs typeface="Calibri"/>
              </a:rPr>
              <a:t>and</a:t>
            </a:r>
            <a:endParaRPr sz="3200" dirty="0">
              <a:latin typeface="Calibri"/>
              <a:cs typeface="Calibri"/>
            </a:endParaRPr>
          </a:p>
          <a:p>
            <a:pPr marL="12700">
              <a:lnSpc>
                <a:spcPts val="3835"/>
              </a:lnSpc>
            </a:pPr>
            <a:r>
              <a:rPr lang="en-IN" sz="3200" dirty="0">
                <a:latin typeface="Calibri"/>
                <a:cs typeface="Calibri"/>
              </a:rPr>
              <a:t>   </a:t>
            </a:r>
            <a:r>
              <a:rPr sz="3200" dirty="0">
                <a:latin typeface="Calibri"/>
                <a:cs typeface="Calibri"/>
              </a:rPr>
              <a:t>minimal</a:t>
            </a:r>
            <a:r>
              <a:rPr sz="3200" spc="-55" dirty="0">
                <a:latin typeface="Calibri"/>
                <a:cs typeface="Calibri"/>
              </a:rPr>
              <a:t> </a:t>
            </a:r>
            <a:r>
              <a:rPr sz="3200" dirty="0">
                <a:latin typeface="Calibri"/>
                <a:cs typeface="Calibri"/>
              </a:rPr>
              <a:t>manual</a:t>
            </a:r>
            <a:r>
              <a:rPr sz="3200" spc="-105" dirty="0">
                <a:latin typeface="Calibri"/>
                <a:cs typeface="Calibri"/>
              </a:rPr>
              <a:t> </a:t>
            </a:r>
            <a:r>
              <a:rPr sz="3200" spc="-10" dirty="0">
                <a:latin typeface="Calibri"/>
                <a:cs typeface="Calibri"/>
              </a:rPr>
              <a:t>intervention.</a:t>
            </a:r>
            <a:endParaRPr sz="3200" dirty="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599" y="304800"/>
            <a:ext cx="7315201" cy="570669"/>
          </a:xfrm>
          <a:prstGeom prst="rect">
            <a:avLst/>
          </a:prstGeom>
        </p:spPr>
        <p:txBody>
          <a:bodyPr vert="horz" wrap="square" lIns="0" tIns="16510" rIns="0" bIns="0" rtlCol="0">
            <a:spAutoFit/>
          </a:bodyPr>
          <a:lstStyle/>
          <a:p>
            <a:pPr marL="909319">
              <a:lnSpc>
                <a:spcPct val="100000"/>
              </a:lnSpc>
              <a:spcBef>
                <a:spcPts val="130"/>
              </a:spcBef>
            </a:pPr>
            <a:r>
              <a:rPr lang="en-IN" dirty="0"/>
              <a:t>        </a:t>
            </a:r>
            <a:r>
              <a:rPr dirty="0"/>
              <a:t>Key</a:t>
            </a:r>
            <a:r>
              <a:rPr spc="-160" dirty="0"/>
              <a:t> </a:t>
            </a:r>
            <a:r>
              <a:rPr spc="-10" dirty="0"/>
              <a:t>Components</a:t>
            </a:r>
          </a:p>
        </p:txBody>
      </p:sp>
      <p:sp>
        <p:nvSpPr>
          <p:cNvPr id="3" name="object 3"/>
          <p:cNvSpPr txBox="1">
            <a:spLocks noGrp="1"/>
          </p:cNvSpPr>
          <p:nvPr>
            <p:ph idx="1"/>
          </p:nvPr>
        </p:nvSpPr>
        <p:spPr>
          <a:xfrm>
            <a:off x="609598" y="1219200"/>
            <a:ext cx="7696201" cy="5125506"/>
          </a:xfrm>
          <a:prstGeom prst="rect">
            <a:avLst/>
          </a:prstGeom>
        </p:spPr>
        <p:txBody>
          <a:bodyPr vert="horz" wrap="square" lIns="0" tIns="15875" rIns="0" bIns="0" rtlCol="0">
            <a:spAutoFit/>
          </a:bodyPr>
          <a:lstStyle/>
          <a:p>
            <a:pPr marL="12700" indent="0">
              <a:lnSpc>
                <a:spcPts val="3645"/>
              </a:lnSpc>
              <a:spcBef>
                <a:spcPts val="125"/>
              </a:spcBef>
              <a:buNone/>
              <a:tabLst>
                <a:tab pos="306705" algn="l"/>
              </a:tabLst>
            </a:pPr>
            <a:r>
              <a:rPr lang="en-US" sz="2800" spc="-10" dirty="0"/>
              <a:t>AWS Secrets Manager: Securely stores sensitive data like API keys and passwords.</a:t>
            </a:r>
          </a:p>
          <a:p>
            <a:pPr marL="12700" indent="0">
              <a:lnSpc>
                <a:spcPts val="3645"/>
              </a:lnSpc>
              <a:spcBef>
                <a:spcPts val="125"/>
              </a:spcBef>
              <a:buNone/>
              <a:tabLst>
                <a:tab pos="306705" algn="l"/>
              </a:tabLst>
            </a:pPr>
            <a:r>
              <a:rPr lang="en-US" sz="2800" spc="-10" dirty="0"/>
              <a:t>AWS CloudTrail: Logs all AWS account activities, including secret access.</a:t>
            </a:r>
          </a:p>
          <a:p>
            <a:pPr marL="12700" indent="0">
              <a:lnSpc>
                <a:spcPts val="3645"/>
              </a:lnSpc>
              <a:spcBef>
                <a:spcPts val="125"/>
              </a:spcBef>
              <a:buNone/>
              <a:tabLst>
                <a:tab pos="306705" algn="l"/>
              </a:tabLst>
            </a:pPr>
            <a:r>
              <a:rPr lang="en-US" sz="2800" spc="-10" dirty="0"/>
              <a:t>Amazon CloudWatch: Monitors logs and sets alarms for suspicious activity.</a:t>
            </a:r>
          </a:p>
          <a:p>
            <a:pPr marL="12700" indent="0">
              <a:lnSpc>
                <a:spcPts val="3645"/>
              </a:lnSpc>
              <a:spcBef>
                <a:spcPts val="125"/>
              </a:spcBef>
              <a:buNone/>
              <a:tabLst>
                <a:tab pos="306705" algn="l"/>
              </a:tabLst>
            </a:pPr>
            <a:r>
              <a:rPr lang="en-US" sz="2800" spc="-10" dirty="0"/>
              <a:t>Amazon SNS: Sends instant alerts via email or SMS when alarms trigger.</a:t>
            </a:r>
          </a:p>
          <a:p>
            <a:pPr marL="12700" indent="0">
              <a:lnSpc>
                <a:spcPts val="3645"/>
              </a:lnSpc>
              <a:spcBef>
                <a:spcPts val="125"/>
              </a:spcBef>
              <a:buNone/>
              <a:tabLst>
                <a:tab pos="306705" algn="l"/>
              </a:tabLst>
            </a:pPr>
            <a:r>
              <a:rPr lang="en-US" sz="2800" spc="-10" dirty="0"/>
              <a:t>S3: Securely stores logs and monitoring data.</a:t>
            </a:r>
          </a:p>
          <a:p>
            <a:pPr marL="12700" indent="0">
              <a:lnSpc>
                <a:spcPts val="3645"/>
              </a:lnSpc>
              <a:spcBef>
                <a:spcPts val="125"/>
              </a:spcBef>
              <a:buNone/>
              <a:tabLst>
                <a:tab pos="306705" algn="l"/>
              </a:tabLst>
            </a:pPr>
            <a:r>
              <a:rPr lang="en-US" sz="2800" spc="-10" dirty="0"/>
              <a:t>AWS CLI: Automates AWS tasks using command-line commands.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9600" y="304800"/>
            <a:ext cx="7772400" cy="2690480"/>
          </a:xfrm>
          <a:prstGeom prst="rect">
            <a:avLst/>
          </a:prstGeom>
        </p:spPr>
        <p:txBody>
          <a:bodyPr vert="horz" wrap="square" lIns="0" tIns="12700" rIns="0" bIns="0" rtlCol="0">
            <a:spAutoFit/>
          </a:bodyPr>
          <a:lstStyle/>
          <a:p>
            <a:pPr marL="298450" indent="-285750">
              <a:lnSpc>
                <a:spcPct val="100000"/>
              </a:lnSpc>
              <a:spcBef>
                <a:spcPts val="100"/>
              </a:spcBef>
              <a:buFont typeface="Arial" panose="020B0604020202020204" pitchFamily="34" charset="0"/>
              <a:buChar char="•"/>
              <a:tabLst>
                <a:tab pos="180340" algn="l"/>
              </a:tabLst>
            </a:pPr>
            <a:r>
              <a:rPr sz="2450" dirty="0">
                <a:latin typeface="Calibri"/>
                <a:cs typeface="Calibri"/>
              </a:rPr>
              <a:t>Set</a:t>
            </a:r>
            <a:r>
              <a:rPr sz="2450" spc="-95" dirty="0">
                <a:latin typeface="Calibri"/>
                <a:cs typeface="Calibri"/>
              </a:rPr>
              <a:t> </a:t>
            </a:r>
            <a:r>
              <a:rPr sz="2450" dirty="0">
                <a:latin typeface="Calibri"/>
                <a:cs typeface="Calibri"/>
              </a:rPr>
              <a:t>up</a:t>
            </a:r>
            <a:r>
              <a:rPr sz="2450" spc="-65" dirty="0">
                <a:latin typeface="Calibri"/>
                <a:cs typeface="Calibri"/>
              </a:rPr>
              <a:t> </a:t>
            </a:r>
            <a:r>
              <a:rPr sz="2450" dirty="0">
                <a:latin typeface="Calibri"/>
                <a:cs typeface="Calibri"/>
              </a:rPr>
              <a:t>AWS</a:t>
            </a:r>
            <a:r>
              <a:rPr sz="2450" spc="-25" dirty="0">
                <a:latin typeface="Calibri"/>
                <a:cs typeface="Calibri"/>
              </a:rPr>
              <a:t> </a:t>
            </a:r>
            <a:r>
              <a:rPr sz="2450" spc="-10" dirty="0">
                <a:latin typeface="Calibri"/>
                <a:cs typeface="Calibri"/>
              </a:rPr>
              <a:t>CloudTrail</a:t>
            </a:r>
            <a:r>
              <a:rPr sz="2450" spc="-20" dirty="0">
                <a:latin typeface="Calibri"/>
                <a:cs typeface="Calibri"/>
              </a:rPr>
              <a:t> </a:t>
            </a:r>
            <a:r>
              <a:rPr sz="2450" dirty="0">
                <a:latin typeface="Calibri"/>
                <a:cs typeface="Calibri"/>
              </a:rPr>
              <a:t>to</a:t>
            </a:r>
            <a:r>
              <a:rPr sz="2450" spc="-70" dirty="0">
                <a:latin typeface="Calibri"/>
                <a:cs typeface="Calibri"/>
              </a:rPr>
              <a:t> </a:t>
            </a:r>
            <a:r>
              <a:rPr sz="2450" dirty="0">
                <a:latin typeface="Calibri"/>
                <a:cs typeface="Calibri"/>
              </a:rPr>
              <a:t>track</a:t>
            </a:r>
            <a:r>
              <a:rPr sz="2450" spc="-20" dirty="0">
                <a:latin typeface="Calibri"/>
                <a:cs typeface="Calibri"/>
              </a:rPr>
              <a:t> </a:t>
            </a:r>
            <a:r>
              <a:rPr sz="2450" dirty="0">
                <a:latin typeface="Calibri"/>
                <a:cs typeface="Calibri"/>
              </a:rPr>
              <a:t>secret</a:t>
            </a:r>
            <a:r>
              <a:rPr sz="2450" spc="-20" dirty="0">
                <a:latin typeface="Calibri"/>
                <a:cs typeface="Calibri"/>
              </a:rPr>
              <a:t> </a:t>
            </a:r>
            <a:r>
              <a:rPr sz="2450" dirty="0">
                <a:latin typeface="Calibri"/>
                <a:cs typeface="Calibri"/>
              </a:rPr>
              <a:t>access</a:t>
            </a:r>
            <a:r>
              <a:rPr sz="2450" spc="-50" dirty="0">
                <a:latin typeface="Calibri"/>
                <a:cs typeface="Calibri"/>
              </a:rPr>
              <a:t> </a:t>
            </a:r>
            <a:r>
              <a:rPr sz="2450" spc="-10" dirty="0">
                <a:latin typeface="Calibri"/>
                <a:cs typeface="Calibri"/>
              </a:rPr>
              <a:t>events.</a:t>
            </a:r>
            <a:endParaRPr lang="en-IN" sz="2450" spc="-10" dirty="0">
              <a:latin typeface="Calibri"/>
              <a:cs typeface="Calibri"/>
            </a:endParaRPr>
          </a:p>
          <a:p>
            <a:pPr marL="298450" indent="-285750">
              <a:lnSpc>
                <a:spcPct val="100000"/>
              </a:lnSpc>
              <a:spcBef>
                <a:spcPts val="100"/>
              </a:spcBef>
              <a:buFont typeface="Arial" panose="020B0604020202020204" pitchFamily="34" charset="0"/>
              <a:buChar char="•"/>
              <a:tabLst>
                <a:tab pos="180340" algn="l"/>
              </a:tabLst>
            </a:pPr>
            <a:r>
              <a:rPr sz="2450" dirty="0">
                <a:latin typeface="Calibri"/>
                <a:cs typeface="Calibri"/>
              </a:rPr>
              <a:t>Use</a:t>
            </a:r>
            <a:r>
              <a:rPr sz="2450" spc="-75" dirty="0">
                <a:latin typeface="Calibri"/>
                <a:cs typeface="Calibri"/>
              </a:rPr>
              <a:t> </a:t>
            </a:r>
            <a:r>
              <a:rPr sz="2450" dirty="0">
                <a:latin typeface="Calibri"/>
                <a:cs typeface="Calibri"/>
              </a:rPr>
              <a:t>AWS</a:t>
            </a:r>
            <a:r>
              <a:rPr sz="2450" spc="-20" dirty="0">
                <a:latin typeface="Calibri"/>
                <a:cs typeface="Calibri"/>
              </a:rPr>
              <a:t> </a:t>
            </a:r>
            <a:r>
              <a:rPr sz="2450" spc="-10" dirty="0">
                <a:latin typeface="Calibri"/>
                <a:cs typeface="Calibri"/>
              </a:rPr>
              <a:t>CloudWatch</a:t>
            </a:r>
            <a:r>
              <a:rPr sz="2450" spc="-30" dirty="0">
                <a:latin typeface="Calibri"/>
                <a:cs typeface="Calibri"/>
              </a:rPr>
              <a:t> </a:t>
            </a:r>
            <a:r>
              <a:rPr sz="2450" dirty="0">
                <a:latin typeface="Calibri"/>
                <a:cs typeface="Calibri"/>
              </a:rPr>
              <a:t>to</a:t>
            </a:r>
            <a:r>
              <a:rPr sz="2450" spc="-55" dirty="0">
                <a:latin typeface="Calibri"/>
                <a:cs typeface="Calibri"/>
              </a:rPr>
              <a:t> </a:t>
            </a:r>
            <a:r>
              <a:rPr sz="2450" dirty="0">
                <a:latin typeface="Calibri"/>
                <a:cs typeface="Calibri"/>
              </a:rPr>
              <a:t>log</a:t>
            </a:r>
            <a:r>
              <a:rPr sz="2450" spc="-35" dirty="0">
                <a:latin typeface="Calibri"/>
                <a:cs typeface="Calibri"/>
              </a:rPr>
              <a:t> </a:t>
            </a:r>
            <a:r>
              <a:rPr sz="2450" dirty="0">
                <a:latin typeface="Calibri"/>
                <a:cs typeface="Calibri"/>
              </a:rPr>
              <a:t>access</a:t>
            </a:r>
            <a:r>
              <a:rPr sz="2450" spc="-35" dirty="0">
                <a:latin typeface="Calibri"/>
                <a:cs typeface="Calibri"/>
              </a:rPr>
              <a:t> </a:t>
            </a:r>
            <a:r>
              <a:rPr sz="2450" spc="-10" dirty="0">
                <a:latin typeface="Calibri"/>
                <a:cs typeface="Calibri"/>
              </a:rPr>
              <a:t>attempts</a:t>
            </a:r>
            <a:r>
              <a:rPr sz="2450" spc="-45" dirty="0">
                <a:latin typeface="Calibri"/>
                <a:cs typeface="Calibri"/>
              </a:rPr>
              <a:t> </a:t>
            </a:r>
            <a:r>
              <a:rPr sz="2450" dirty="0">
                <a:latin typeface="Calibri"/>
                <a:cs typeface="Calibri"/>
              </a:rPr>
              <a:t>and</a:t>
            </a:r>
            <a:r>
              <a:rPr sz="2450" spc="15" dirty="0">
                <a:latin typeface="Calibri"/>
                <a:cs typeface="Calibri"/>
              </a:rPr>
              <a:t> </a:t>
            </a:r>
            <a:r>
              <a:rPr sz="2450" dirty="0">
                <a:latin typeface="Calibri"/>
                <a:cs typeface="Calibri"/>
              </a:rPr>
              <a:t>trigger</a:t>
            </a:r>
            <a:r>
              <a:rPr sz="2450" spc="-5" dirty="0">
                <a:latin typeface="Calibri"/>
                <a:cs typeface="Calibri"/>
              </a:rPr>
              <a:t> </a:t>
            </a:r>
            <a:r>
              <a:rPr sz="2450" spc="-10" dirty="0">
                <a:latin typeface="Calibri"/>
                <a:cs typeface="Calibri"/>
              </a:rPr>
              <a:t>notifications.</a:t>
            </a:r>
            <a:endParaRPr lang="en-IN" sz="2450" dirty="0">
              <a:latin typeface="Calibri"/>
              <a:cs typeface="Calibri"/>
            </a:endParaRPr>
          </a:p>
          <a:p>
            <a:pPr marL="298450" indent="-285750">
              <a:lnSpc>
                <a:spcPct val="100000"/>
              </a:lnSpc>
              <a:spcBef>
                <a:spcPts val="100"/>
              </a:spcBef>
              <a:buFont typeface="Arial" panose="020B0604020202020204" pitchFamily="34" charset="0"/>
              <a:buChar char="•"/>
              <a:tabLst>
                <a:tab pos="180340" algn="l"/>
              </a:tabLst>
            </a:pPr>
            <a:r>
              <a:rPr sz="2450" spc="-10" dirty="0">
                <a:latin typeface="Calibri"/>
                <a:cs typeface="Calibri"/>
              </a:rPr>
              <a:t>Create</a:t>
            </a:r>
            <a:r>
              <a:rPr sz="2450" spc="-70" dirty="0">
                <a:latin typeface="Calibri"/>
                <a:cs typeface="Calibri"/>
              </a:rPr>
              <a:t> </a:t>
            </a:r>
            <a:r>
              <a:rPr sz="2450" dirty="0">
                <a:latin typeface="Calibri"/>
                <a:cs typeface="Calibri"/>
              </a:rPr>
              <a:t>SNS</a:t>
            </a:r>
            <a:r>
              <a:rPr sz="2450" spc="-70" dirty="0">
                <a:latin typeface="Calibri"/>
                <a:cs typeface="Calibri"/>
              </a:rPr>
              <a:t> </a:t>
            </a:r>
            <a:r>
              <a:rPr sz="2450" dirty="0">
                <a:latin typeface="Calibri"/>
                <a:cs typeface="Calibri"/>
              </a:rPr>
              <a:t>alerts</a:t>
            </a:r>
            <a:r>
              <a:rPr sz="2450" spc="-30" dirty="0">
                <a:latin typeface="Calibri"/>
                <a:cs typeface="Calibri"/>
              </a:rPr>
              <a:t> </a:t>
            </a:r>
            <a:r>
              <a:rPr sz="2450" dirty="0">
                <a:latin typeface="Calibri"/>
                <a:cs typeface="Calibri"/>
              </a:rPr>
              <a:t>to</a:t>
            </a:r>
            <a:r>
              <a:rPr sz="2450" spc="-45" dirty="0">
                <a:latin typeface="Calibri"/>
                <a:cs typeface="Calibri"/>
              </a:rPr>
              <a:t> </a:t>
            </a:r>
            <a:r>
              <a:rPr sz="2450" dirty="0">
                <a:latin typeface="Calibri"/>
                <a:cs typeface="Calibri"/>
              </a:rPr>
              <a:t>get</a:t>
            </a:r>
            <a:r>
              <a:rPr sz="2450" spc="-5" dirty="0">
                <a:latin typeface="Calibri"/>
                <a:cs typeface="Calibri"/>
              </a:rPr>
              <a:t> </a:t>
            </a:r>
            <a:r>
              <a:rPr sz="2450" dirty="0">
                <a:latin typeface="Calibri"/>
                <a:cs typeface="Calibri"/>
              </a:rPr>
              <a:t>notified</a:t>
            </a:r>
            <a:r>
              <a:rPr sz="2450" spc="-40" dirty="0">
                <a:latin typeface="Calibri"/>
                <a:cs typeface="Calibri"/>
              </a:rPr>
              <a:t> </a:t>
            </a:r>
            <a:r>
              <a:rPr sz="2450" dirty="0">
                <a:latin typeface="Calibri"/>
                <a:cs typeface="Calibri"/>
              </a:rPr>
              <a:t>when</a:t>
            </a:r>
            <a:r>
              <a:rPr sz="2450" spc="-45" dirty="0">
                <a:latin typeface="Calibri"/>
                <a:cs typeface="Calibri"/>
              </a:rPr>
              <a:t> </a:t>
            </a:r>
            <a:r>
              <a:rPr sz="2450" dirty="0">
                <a:latin typeface="Calibri"/>
                <a:cs typeface="Calibri"/>
              </a:rPr>
              <a:t>your</a:t>
            </a:r>
            <a:r>
              <a:rPr sz="2450" spc="-25" dirty="0">
                <a:latin typeface="Calibri"/>
                <a:cs typeface="Calibri"/>
              </a:rPr>
              <a:t> </a:t>
            </a:r>
            <a:r>
              <a:rPr sz="2450" dirty="0">
                <a:latin typeface="Calibri"/>
                <a:cs typeface="Calibri"/>
              </a:rPr>
              <a:t>secrets</a:t>
            </a:r>
            <a:r>
              <a:rPr sz="2450" spc="-30" dirty="0">
                <a:latin typeface="Calibri"/>
                <a:cs typeface="Calibri"/>
              </a:rPr>
              <a:t> </a:t>
            </a:r>
            <a:r>
              <a:rPr sz="2450" dirty="0">
                <a:latin typeface="Calibri"/>
                <a:cs typeface="Calibri"/>
              </a:rPr>
              <a:t>are </a:t>
            </a:r>
            <a:r>
              <a:rPr sz="2450" spc="-10" dirty="0">
                <a:latin typeface="Calibri"/>
                <a:cs typeface="Calibri"/>
              </a:rPr>
              <a:t>accessed.</a:t>
            </a:r>
            <a:endParaRPr lang="en-IN" sz="2450" spc="-10" dirty="0">
              <a:latin typeface="Calibri"/>
              <a:cs typeface="Calibri"/>
            </a:endParaRPr>
          </a:p>
          <a:p>
            <a:pPr marL="298450" indent="-285750">
              <a:lnSpc>
                <a:spcPct val="100000"/>
              </a:lnSpc>
              <a:spcBef>
                <a:spcPts val="100"/>
              </a:spcBef>
              <a:buFont typeface="Arial" panose="020B0604020202020204" pitchFamily="34" charset="0"/>
              <a:buChar char="•"/>
              <a:tabLst>
                <a:tab pos="180340" algn="l"/>
              </a:tabLst>
            </a:pPr>
            <a:r>
              <a:rPr sz="2450" dirty="0">
                <a:latin typeface="Calibri"/>
                <a:cs typeface="Calibri"/>
              </a:rPr>
              <a:t>Build</a:t>
            </a:r>
            <a:r>
              <a:rPr sz="2450" spc="-70" dirty="0">
                <a:latin typeface="Calibri"/>
                <a:cs typeface="Calibri"/>
              </a:rPr>
              <a:t> </a:t>
            </a:r>
            <a:r>
              <a:rPr sz="2450" dirty="0">
                <a:latin typeface="Calibri"/>
                <a:cs typeface="Calibri"/>
              </a:rPr>
              <a:t>a</a:t>
            </a:r>
            <a:r>
              <a:rPr sz="2450" spc="-60" dirty="0">
                <a:latin typeface="Calibri"/>
                <a:cs typeface="Calibri"/>
              </a:rPr>
              <a:t> </a:t>
            </a:r>
            <a:r>
              <a:rPr sz="2450" dirty="0">
                <a:latin typeface="Calibri"/>
                <a:cs typeface="Calibri"/>
              </a:rPr>
              <a:t>second</a:t>
            </a:r>
            <a:r>
              <a:rPr sz="2450" spc="-5" dirty="0">
                <a:latin typeface="Calibri"/>
                <a:cs typeface="Calibri"/>
              </a:rPr>
              <a:t> </a:t>
            </a:r>
            <a:r>
              <a:rPr sz="2450" dirty="0">
                <a:latin typeface="Calibri"/>
                <a:cs typeface="Calibri"/>
              </a:rPr>
              <a:t>notification</a:t>
            </a:r>
            <a:r>
              <a:rPr sz="2450" spc="-70" dirty="0">
                <a:latin typeface="Calibri"/>
                <a:cs typeface="Calibri"/>
              </a:rPr>
              <a:t> </a:t>
            </a:r>
            <a:r>
              <a:rPr sz="2450" dirty="0">
                <a:latin typeface="Calibri"/>
                <a:cs typeface="Calibri"/>
              </a:rPr>
              <a:t>system</a:t>
            </a:r>
            <a:r>
              <a:rPr sz="2450" spc="-30" dirty="0">
                <a:latin typeface="Calibri"/>
                <a:cs typeface="Calibri"/>
              </a:rPr>
              <a:t> </a:t>
            </a:r>
            <a:r>
              <a:rPr sz="2450" dirty="0">
                <a:latin typeface="Calibri"/>
                <a:cs typeface="Calibri"/>
              </a:rPr>
              <a:t>and</a:t>
            </a:r>
            <a:r>
              <a:rPr sz="2450" spc="-70" dirty="0">
                <a:latin typeface="Calibri"/>
                <a:cs typeface="Calibri"/>
              </a:rPr>
              <a:t> </a:t>
            </a:r>
            <a:r>
              <a:rPr sz="2450" dirty="0">
                <a:latin typeface="Calibri"/>
                <a:cs typeface="Calibri"/>
              </a:rPr>
              <a:t>compare</a:t>
            </a:r>
            <a:r>
              <a:rPr sz="2450" spc="-25" dirty="0">
                <a:latin typeface="Calibri"/>
                <a:cs typeface="Calibri"/>
              </a:rPr>
              <a:t> </a:t>
            </a:r>
            <a:r>
              <a:rPr sz="2450" dirty="0">
                <a:latin typeface="Calibri"/>
                <a:cs typeface="Calibri"/>
              </a:rPr>
              <a:t>which</a:t>
            </a:r>
            <a:r>
              <a:rPr sz="2450" spc="-70" dirty="0">
                <a:latin typeface="Calibri"/>
                <a:cs typeface="Calibri"/>
              </a:rPr>
              <a:t> </a:t>
            </a:r>
            <a:r>
              <a:rPr sz="2450" dirty="0">
                <a:latin typeface="Calibri"/>
                <a:cs typeface="Calibri"/>
              </a:rPr>
              <a:t>approach</a:t>
            </a:r>
            <a:r>
              <a:rPr sz="2450" spc="-5" dirty="0">
                <a:latin typeface="Calibri"/>
                <a:cs typeface="Calibri"/>
              </a:rPr>
              <a:t> </a:t>
            </a:r>
            <a:r>
              <a:rPr sz="2450" dirty="0">
                <a:latin typeface="Calibri"/>
                <a:cs typeface="Calibri"/>
              </a:rPr>
              <a:t>delivers</a:t>
            </a:r>
            <a:r>
              <a:rPr sz="2450" spc="-50" dirty="0">
                <a:latin typeface="Calibri"/>
                <a:cs typeface="Calibri"/>
              </a:rPr>
              <a:t> </a:t>
            </a:r>
            <a:r>
              <a:rPr sz="2450" spc="-10" dirty="0">
                <a:latin typeface="Calibri"/>
                <a:cs typeface="Calibri"/>
              </a:rPr>
              <a:t>better </a:t>
            </a:r>
            <a:r>
              <a:rPr sz="2450" dirty="0">
                <a:latin typeface="Calibri"/>
                <a:cs typeface="Calibri"/>
              </a:rPr>
              <a:t>security</a:t>
            </a:r>
            <a:r>
              <a:rPr sz="2450" spc="-60" dirty="0">
                <a:latin typeface="Calibri"/>
                <a:cs typeface="Calibri"/>
              </a:rPr>
              <a:t> </a:t>
            </a:r>
            <a:r>
              <a:rPr sz="2450" spc="-10" dirty="0">
                <a:latin typeface="Calibri"/>
                <a:cs typeface="Calibri"/>
              </a:rPr>
              <a:t>alerts.</a:t>
            </a:r>
            <a:endParaRPr sz="2450" dirty="0">
              <a:latin typeface="Calibri"/>
              <a:cs typeface="Calibri"/>
            </a:endParaRPr>
          </a:p>
        </p:txBody>
      </p:sp>
      <p:pic>
        <p:nvPicPr>
          <p:cNvPr id="4" name="Picture 3">
            <a:extLst>
              <a:ext uri="{FF2B5EF4-FFF2-40B4-BE49-F238E27FC236}">
                <a16:creationId xmlns:a16="http://schemas.microsoft.com/office/drawing/2014/main" id="{A3E6FC6B-8232-514B-82D7-88473C2954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3272883"/>
            <a:ext cx="8534400" cy="289931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17469" y="461010"/>
            <a:ext cx="2916555" cy="701040"/>
          </a:xfrm>
          <a:prstGeom prst="rect">
            <a:avLst/>
          </a:prstGeom>
        </p:spPr>
        <p:txBody>
          <a:bodyPr vert="horz" wrap="square" lIns="0" tIns="16510" rIns="0" bIns="0" rtlCol="0">
            <a:spAutoFit/>
          </a:bodyPr>
          <a:lstStyle/>
          <a:p>
            <a:pPr marL="12700">
              <a:lnSpc>
                <a:spcPct val="100000"/>
              </a:lnSpc>
              <a:spcBef>
                <a:spcPts val="130"/>
              </a:spcBef>
            </a:pPr>
            <a:r>
              <a:rPr dirty="0"/>
              <a:t>Key</a:t>
            </a:r>
            <a:r>
              <a:rPr spc="-150" dirty="0"/>
              <a:t> </a:t>
            </a:r>
            <a:r>
              <a:rPr spc="-10" dirty="0"/>
              <a:t>Features</a:t>
            </a:r>
          </a:p>
        </p:txBody>
      </p:sp>
      <p:sp>
        <p:nvSpPr>
          <p:cNvPr id="3" name="object 3"/>
          <p:cNvSpPr txBox="1"/>
          <p:nvPr/>
        </p:nvSpPr>
        <p:spPr>
          <a:xfrm>
            <a:off x="536575" y="1517649"/>
            <a:ext cx="6760209" cy="2953385"/>
          </a:xfrm>
          <a:prstGeom prst="rect">
            <a:avLst/>
          </a:prstGeom>
        </p:spPr>
        <p:txBody>
          <a:bodyPr vert="horz" wrap="square" lIns="0" tIns="105410" rIns="0" bIns="0" rtlCol="0">
            <a:spAutoFit/>
          </a:bodyPr>
          <a:lstStyle/>
          <a:p>
            <a:pPr marL="307340" indent="-294640">
              <a:lnSpc>
                <a:spcPct val="100000"/>
              </a:lnSpc>
              <a:spcBef>
                <a:spcPts val="830"/>
              </a:spcBef>
              <a:buChar char="•"/>
              <a:tabLst>
                <a:tab pos="307340" algn="l"/>
              </a:tabLst>
            </a:pPr>
            <a:r>
              <a:rPr sz="3200" spc="-25" dirty="0">
                <a:latin typeface="Calibri"/>
                <a:cs typeface="Calibri"/>
              </a:rPr>
              <a:t>Real-</a:t>
            </a:r>
            <a:r>
              <a:rPr sz="3200" dirty="0">
                <a:latin typeface="Calibri"/>
                <a:cs typeface="Calibri"/>
              </a:rPr>
              <a:t>time</a:t>
            </a:r>
            <a:r>
              <a:rPr sz="3200" spc="-55" dirty="0">
                <a:latin typeface="Calibri"/>
                <a:cs typeface="Calibri"/>
              </a:rPr>
              <a:t> </a:t>
            </a:r>
            <a:r>
              <a:rPr sz="3200" dirty="0">
                <a:latin typeface="Calibri"/>
                <a:cs typeface="Calibri"/>
              </a:rPr>
              <a:t>anomaly</a:t>
            </a:r>
            <a:r>
              <a:rPr sz="3200" spc="-55" dirty="0">
                <a:latin typeface="Calibri"/>
                <a:cs typeface="Calibri"/>
              </a:rPr>
              <a:t> </a:t>
            </a:r>
            <a:r>
              <a:rPr sz="3200" spc="-10" dirty="0">
                <a:latin typeface="Calibri"/>
                <a:cs typeface="Calibri"/>
              </a:rPr>
              <a:t>detection</a:t>
            </a:r>
            <a:endParaRPr sz="3200">
              <a:latin typeface="Calibri"/>
              <a:cs typeface="Calibri"/>
            </a:endParaRPr>
          </a:p>
          <a:p>
            <a:pPr marL="307340" indent="-294640">
              <a:lnSpc>
                <a:spcPct val="100000"/>
              </a:lnSpc>
              <a:spcBef>
                <a:spcPts val="740"/>
              </a:spcBef>
              <a:buChar char="•"/>
              <a:tabLst>
                <a:tab pos="307340" algn="l"/>
              </a:tabLst>
            </a:pPr>
            <a:r>
              <a:rPr sz="3200" spc="-25" dirty="0">
                <a:latin typeface="Calibri"/>
                <a:cs typeface="Calibri"/>
              </a:rPr>
              <a:t>Auto-</a:t>
            </a:r>
            <a:r>
              <a:rPr sz="3200" spc="-10" dirty="0">
                <a:latin typeface="Calibri"/>
                <a:cs typeface="Calibri"/>
              </a:rPr>
              <a:t>notifications</a:t>
            </a:r>
            <a:r>
              <a:rPr sz="3200" spc="-55" dirty="0">
                <a:latin typeface="Calibri"/>
                <a:cs typeface="Calibri"/>
              </a:rPr>
              <a:t> </a:t>
            </a:r>
            <a:r>
              <a:rPr sz="3200" dirty="0">
                <a:latin typeface="Calibri"/>
                <a:cs typeface="Calibri"/>
              </a:rPr>
              <a:t>via</a:t>
            </a:r>
            <a:r>
              <a:rPr sz="3200" spc="35" dirty="0">
                <a:latin typeface="Calibri"/>
                <a:cs typeface="Calibri"/>
              </a:rPr>
              <a:t> </a:t>
            </a:r>
            <a:r>
              <a:rPr sz="3200" spc="-25" dirty="0">
                <a:latin typeface="Calibri"/>
                <a:cs typeface="Calibri"/>
              </a:rPr>
              <a:t>SNS</a:t>
            </a:r>
            <a:endParaRPr sz="3200">
              <a:latin typeface="Calibri"/>
              <a:cs typeface="Calibri"/>
            </a:endParaRPr>
          </a:p>
          <a:p>
            <a:pPr marL="307340" indent="-294640">
              <a:lnSpc>
                <a:spcPct val="100000"/>
              </a:lnSpc>
              <a:spcBef>
                <a:spcPts val="819"/>
              </a:spcBef>
              <a:buChar char="•"/>
              <a:tabLst>
                <a:tab pos="307340" algn="l"/>
              </a:tabLst>
            </a:pPr>
            <a:r>
              <a:rPr sz="3200" dirty="0">
                <a:latin typeface="Calibri"/>
                <a:cs typeface="Calibri"/>
              </a:rPr>
              <a:t>Compliance</a:t>
            </a:r>
            <a:r>
              <a:rPr sz="3200" spc="-90" dirty="0">
                <a:latin typeface="Calibri"/>
                <a:cs typeface="Calibri"/>
              </a:rPr>
              <a:t> </a:t>
            </a:r>
            <a:r>
              <a:rPr sz="3200" spc="-10" dirty="0">
                <a:latin typeface="Calibri"/>
                <a:cs typeface="Calibri"/>
              </a:rPr>
              <a:t>monitoring</a:t>
            </a:r>
            <a:r>
              <a:rPr sz="3200" spc="-80" dirty="0">
                <a:latin typeface="Calibri"/>
                <a:cs typeface="Calibri"/>
              </a:rPr>
              <a:t> </a:t>
            </a:r>
            <a:r>
              <a:rPr sz="3200" dirty="0">
                <a:latin typeface="Calibri"/>
                <a:cs typeface="Calibri"/>
              </a:rPr>
              <a:t>via</a:t>
            </a:r>
            <a:r>
              <a:rPr sz="3200" spc="-95" dirty="0">
                <a:latin typeface="Calibri"/>
                <a:cs typeface="Calibri"/>
              </a:rPr>
              <a:t> </a:t>
            </a:r>
            <a:r>
              <a:rPr sz="3200" spc="-10" dirty="0">
                <a:latin typeface="Calibri"/>
                <a:cs typeface="Calibri"/>
              </a:rPr>
              <a:t>AWS</a:t>
            </a:r>
            <a:r>
              <a:rPr sz="3200" spc="-114" dirty="0">
                <a:latin typeface="Calibri"/>
                <a:cs typeface="Calibri"/>
              </a:rPr>
              <a:t> </a:t>
            </a:r>
            <a:r>
              <a:rPr sz="3200" spc="-10" dirty="0">
                <a:latin typeface="Calibri"/>
                <a:cs typeface="Calibri"/>
              </a:rPr>
              <a:t>Config</a:t>
            </a:r>
            <a:endParaRPr sz="3200">
              <a:latin typeface="Calibri"/>
              <a:cs typeface="Calibri"/>
            </a:endParaRPr>
          </a:p>
          <a:p>
            <a:pPr marL="307340" indent="-294640">
              <a:lnSpc>
                <a:spcPct val="100000"/>
              </a:lnSpc>
              <a:spcBef>
                <a:spcPts val="740"/>
              </a:spcBef>
              <a:buChar char="•"/>
              <a:tabLst>
                <a:tab pos="307340" algn="l"/>
              </a:tabLst>
            </a:pPr>
            <a:r>
              <a:rPr sz="3200" spc="-10" dirty="0">
                <a:latin typeface="Calibri"/>
                <a:cs typeface="Calibri"/>
              </a:rPr>
              <a:t>Centralized</a:t>
            </a:r>
            <a:r>
              <a:rPr sz="3200" spc="-110" dirty="0">
                <a:latin typeface="Calibri"/>
                <a:cs typeface="Calibri"/>
              </a:rPr>
              <a:t> </a:t>
            </a:r>
            <a:r>
              <a:rPr sz="3200" dirty="0">
                <a:latin typeface="Calibri"/>
                <a:cs typeface="Calibri"/>
              </a:rPr>
              <a:t>log</a:t>
            </a:r>
            <a:r>
              <a:rPr sz="3200" spc="-90" dirty="0">
                <a:latin typeface="Calibri"/>
                <a:cs typeface="Calibri"/>
              </a:rPr>
              <a:t> </a:t>
            </a:r>
            <a:r>
              <a:rPr sz="3200" spc="-10" dirty="0">
                <a:latin typeface="Calibri"/>
                <a:cs typeface="Calibri"/>
              </a:rPr>
              <a:t>collection</a:t>
            </a:r>
            <a:endParaRPr sz="3200">
              <a:latin typeface="Calibri"/>
              <a:cs typeface="Calibri"/>
            </a:endParaRPr>
          </a:p>
          <a:p>
            <a:pPr marL="307340" indent="-294640">
              <a:lnSpc>
                <a:spcPct val="100000"/>
              </a:lnSpc>
              <a:spcBef>
                <a:spcPts val="815"/>
              </a:spcBef>
              <a:buChar char="•"/>
              <a:tabLst>
                <a:tab pos="307340" algn="l"/>
              </a:tabLst>
            </a:pPr>
            <a:r>
              <a:rPr sz="3200" dirty="0">
                <a:latin typeface="Calibri"/>
                <a:cs typeface="Calibri"/>
              </a:rPr>
              <a:t>Scalable</a:t>
            </a:r>
            <a:r>
              <a:rPr sz="3200" spc="-55" dirty="0">
                <a:latin typeface="Calibri"/>
                <a:cs typeface="Calibri"/>
              </a:rPr>
              <a:t> </a:t>
            </a:r>
            <a:r>
              <a:rPr sz="3200" dirty="0">
                <a:latin typeface="Calibri"/>
                <a:cs typeface="Calibri"/>
              </a:rPr>
              <a:t>&amp;</a:t>
            </a:r>
            <a:r>
              <a:rPr sz="3200" spc="-50" dirty="0">
                <a:latin typeface="Calibri"/>
                <a:cs typeface="Calibri"/>
              </a:rPr>
              <a:t> </a:t>
            </a:r>
            <a:r>
              <a:rPr sz="3200" dirty="0">
                <a:latin typeface="Calibri"/>
                <a:cs typeface="Calibri"/>
              </a:rPr>
              <a:t>serverless</a:t>
            </a:r>
            <a:r>
              <a:rPr sz="3200" spc="-85" dirty="0">
                <a:latin typeface="Calibri"/>
                <a:cs typeface="Calibri"/>
              </a:rPr>
              <a:t> </a:t>
            </a:r>
            <a:r>
              <a:rPr sz="3200" spc="-10" dirty="0">
                <a:latin typeface="Calibri"/>
                <a:cs typeface="Calibri"/>
              </a:rPr>
              <a:t>setup</a:t>
            </a:r>
            <a:endParaRPr sz="320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9A749-45A4-54AC-1930-C7388F1F7AB0}"/>
              </a:ext>
            </a:extLst>
          </p:cNvPr>
          <p:cNvSpPr>
            <a:spLocks noGrp="1"/>
          </p:cNvSpPr>
          <p:nvPr>
            <p:ph type="title"/>
          </p:nvPr>
        </p:nvSpPr>
        <p:spPr>
          <a:xfrm>
            <a:off x="609599" y="609600"/>
            <a:ext cx="6347714" cy="685800"/>
          </a:xfrm>
        </p:spPr>
        <p:txBody>
          <a:bodyPr>
            <a:normAutofit fontScale="90000"/>
          </a:bodyPr>
          <a:lstStyle/>
          <a:p>
            <a:r>
              <a:rPr lang="en-IN" dirty="0"/>
              <a:t>                RESULTS/DEMO</a:t>
            </a:r>
            <a:br>
              <a:rPr lang="en-IN" dirty="0"/>
            </a:br>
            <a:endParaRPr lang="en-IN" dirty="0"/>
          </a:p>
        </p:txBody>
      </p:sp>
      <p:pic>
        <p:nvPicPr>
          <p:cNvPr id="4" name="Picture 3">
            <a:extLst>
              <a:ext uri="{FF2B5EF4-FFF2-40B4-BE49-F238E27FC236}">
                <a16:creationId xmlns:a16="http://schemas.microsoft.com/office/drawing/2014/main" id="{4739506B-9271-E14D-9E06-626BE1EBFD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75159"/>
            <a:ext cx="8610600" cy="4307681"/>
          </a:xfrm>
          <a:prstGeom prst="rect">
            <a:avLst/>
          </a:prstGeom>
        </p:spPr>
      </p:pic>
    </p:spTree>
    <p:extLst>
      <p:ext uri="{BB962C8B-B14F-4D97-AF65-F5344CB8AC3E}">
        <p14:creationId xmlns:p14="http://schemas.microsoft.com/office/powerpoint/2010/main" val="2148763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5D681-7867-99E4-9D54-DAE2E3785D83}"/>
              </a:ext>
            </a:extLst>
          </p:cNvPr>
          <p:cNvSpPr>
            <a:spLocks noGrp="1"/>
          </p:cNvSpPr>
          <p:nvPr>
            <p:ph type="title"/>
          </p:nvPr>
        </p:nvSpPr>
        <p:spPr>
          <a:xfrm>
            <a:off x="609599" y="0"/>
            <a:ext cx="6347714" cy="838200"/>
          </a:xfrm>
        </p:spPr>
        <p:txBody>
          <a:bodyPr/>
          <a:lstStyle/>
          <a:p>
            <a:r>
              <a:rPr lang="en-IN" dirty="0"/>
              <a:t>             RESULTS/DEMO</a:t>
            </a:r>
          </a:p>
        </p:txBody>
      </p:sp>
      <p:pic>
        <p:nvPicPr>
          <p:cNvPr id="4" name="Picture 3">
            <a:extLst>
              <a:ext uri="{FF2B5EF4-FFF2-40B4-BE49-F238E27FC236}">
                <a16:creationId xmlns:a16="http://schemas.microsoft.com/office/drawing/2014/main" id="{6D478213-2BA3-9895-3E93-0AAE951B8F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0268" y="914400"/>
            <a:ext cx="4843463" cy="5410200"/>
          </a:xfrm>
          <a:prstGeom prst="rect">
            <a:avLst/>
          </a:prstGeom>
        </p:spPr>
      </p:pic>
    </p:spTree>
    <p:extLst>
      <p:ext uri="{BB962C8B-B14F-4D97-AF65-F5344CB8AC3E}">
        <p14:creationId xmlns:p14="http://schemas.microsoft.com/office/powerpoint/2010/main" val="1121012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23495">
              <a:lnSpc>
                <a:spcPct val="100000"/>
              </a:lnSpc>
              <a:spcBef>
                <a:spcPts val="130"/>
              </a:spcBef>
            </a:pPr>
            <a:r>
              <a:rPr dirty="0"/>
              <a:t>Learnings</a:t>
            </a:r>
            <a:r>
              <a:rPr spc="-50" dirty="0"/>
              <a:t> </a:t>
            </a:r>
            <a:r>
              <a:rPr dirty="0"/>
              <a:t>and</a:t>
            </a:r>
            <a:r>
              <a:rPr spc="-90" dirty="0"/>
              <a:t> </a:t>
            </a:r>
            <a:r>
              <a:rPr spc="-10" dirty="0"/>
              <a:t>Outcomes</a:t>
            </a:r>
          </a:p>
        </p:txBody>
      </p:sp>
      <p:sp>
        <p:nvSpPr>
          <p:cNvPr id="3" name="object 3"/>
          <p:cNvSpPr txBox="1"/>
          <p:nvPr/>
        </p:nvSpPr>
        <p:spPr>
          <a:xfrm>
            <a:off x="536575" y="1606930"/>
            <a:ext cx="7442834" cy="4228465"/>
          </a:xfrm>
          <a:prstGeom prst="rect">
            <a:avLst/>
          </a:prstGeom>
        </p:spPr>
        <p:txBody>
          <a:bodyPr vert="horz" wrap="square" lIns="0" tIns="33655" rIns="0" bIns="0" rtlCol="0">
            <a:spAutoFit/>
          </a:bodyPr>
          <a:lstStyle/>
          <a:p>
            <a:pPr marL="12700" marR="719455" indent="294640">
              <a:lnSpc>
                <a:spcPts val="3829"/>
              </a:lnSpc>
              <a:spcBef>
                <a:spcPts val="265"/>
              </a:spcBef>
              <a:buChar char="•"/>
              <a:tabLst>
                <a:tab pos="307340" algn="l"/>
              </a:tabLst>
            </a:pPr>
            <a:r>
              <a:rPr sz="3200" dirty="0">
                <a:latin typeface="Calibri"/>
                <a:cs typeface="Calibri"/>
              </a:rPr>
              <a:t>Gained</a:t>
            </a:r>
            <a:r>
              <a:rPr sz="3200" spc="-75" dirty="0">
                <a:latin typeface="Calibri"/>
                <a:cs typeface="Calibri"/>
              </a:rPr>
              <a:t> </a:t>
            </a:r>
            <a:r>
              <a:rPr sz="3200" spc="-10" dirty="0">
                <a:latin typeface="Calibri"/>
                <a:cs typeface="Calibri"/>
              </a:rPr>
              <a:t>hands-</a:t>
            </a:r>
            <a:r>
              <a:rPr sz="3200" dirty="0">
                <a:latin typeface="Calibri"/>
                <a:cs typeface="Calibri"/>
              </a:rPr>
              <a:t>on</a:t>
            </a:r>
            <a:r>
              <a:rPr sz="3200" spc="-75" dirty="0">
                <a:latin typeface="Calibri"/>
                <a:cs typeface="Calibri"/>
              </a:rPr>
              <a:t> </a:t>
            </a:r>
            <a:r>
              <a:rPr sz="3200" dirty="0">
                <a:latin typeface="Calibri"/>
                <a:cs typeface="Calibri"/>
              </a:rPr>
              <a:t>experience</a:t>
            </a:r>
            <a:r>
              <a:rPr sz="3200" spc="-60" dirty="0">
                <a:latin typeface="Calibri"/>
                <a:cs typeface="Calibri"/>
              </a:rPr>
              <a:t> </a:t>
            </a:r>
            <a:r>
              <a:rPr sz="3200" dirty="0">
                <a:latin typeface="Calibri"/>
                <a:cs typeface="Calibri"/>
              </a:rPr>
              <a:t>with</a:t>
            </a:r>
            <a:r>
              <a:rPr sz="3200" spc="-75" dirty="0">
                <a:latin typeface="Calibri"/>
                <a:cs typeface="Calibri"/>
              </a:rPr>
              <a:t> </a:t>
            </a:r>
            <a:r>
              <a:rPr sz="3200" spc="-25" dirty="0">
                <a:latin typeface="Calibri"/>
                <a:cs typeface="Calibri"/>
              </a:rPr>
              <a:t>AWS </a:t>
            </a:r>
            <a:r>
              <a:rPr lang="en-IN" sz="3200" spc="-25" dirty="0">
                <a:latin typeface="Calibri"/>
                <a:cs typeface="Calibri"/>
              </a:rPr>
              <a:t>  	</a:t>
            </a:r>
            <a:r>
              <a:rPr sz="3200" spc="-10" dirty="0">
                <a:latin typeface="Calibri"/>
                <a:cs typeface="Calibri"/>
              </a:rPr>
              <a:t>monitoring</a:t>
            </a:r>
            <a:r>
              <a:rPr sz="3200" spc="-85" dirty="0">
                <a:latin typeface="Calibri"/>
                <a:cs typeface="Calibri"/>
              </a:rPr>
              <a:t> </a:t>
            </a:r>
            <a:r>
              <a:rPr sz="3200" spc="-20" dirty="0">
                <a:latin typeface="Calibri"/>
                <a:cs typeface="Calibri"/>
              </a:rPr>
              <a:t>tools</a:t>
            </a:r>
            <a:endParaRPr sz="3200" dirty="0">
              <a:latin typeface="Calibri"/>
              <a:cs typeface="Calibri"/>
            </a:endParaRPr>
          </a:p>
          <a:p>
            <a:pPr marL="306705" indent="-294005">
              <a:lnSpc>
                <a:spcPts val="3835"/>
              </a:lnSpc>
              <a:spcBef>
                <a:spcPts val="690"/>
              </a:spcBef>
              <a:buChar char="•"/>
              <a:tabLst>
                <a:tab pos="306705" algn="l"/>
              </a:tabLst>
            </a:pPr>
            <a:r>
              <a:rPr sz="3200" spc="-10" dirty="0">
                <a:latin typeface="Calibri"/>
                <a:cs typeface="Calibri"/>
              </a:rPr>
              <a:t>Understood</a:t>
            </a:r>
            <a:r>
              <a:rPr sz="3200" spc="-80" dirty="0">
                <a:latin typeface="Calibri"/>
                <a:cs typeface="Calibri"/>
              </a:rPr>
              <a:t> </a:t>
            </a:r>
            <a:r>
              <a:rPr sz="3200" dirty="0">
                <a:latin typeface="Calibri"/>
                <a:cs typeface="Calibri"/>
              </a:rPr>
              <a:t>the</a:t>
            </a:r>
            <a:r>
              <a:rPr sz="3200" spc="-65" dirty="0">
                <a:latin typeface="Calibri"/>
                <a:cs typeface="Calibri"/>
              </a:rPr>
              <a:t> </a:t>
            </a:r>
            <a:r>
              <a:rPr sz="3200" dirty="0">
                <a:latin typeface="Calibri"/>
                <a:cs typeface="Calibri"/>
              </a:rPr>
              <a:t>importance</a:t>
            </a:r>
            <a:r>
              <a:rPr sz="3200" spc="-65" dirty="0">
                <a:latin typeface="Calibri"/>
                <a:cs typeface="Calibri"/>
              </a:rPr>
              <a:t> </a:t>
            </a:r>
            <a:r>
              <a:rPr sz="3200" dirty="0">
                <a:latin typeface="Calibri"/>
                <a:cs typeface="Calibri"/>
              </a:rPr>
              <a:t>of</a:t>
            </a:r>
            <a:r>
              <a:rPr sz="3200" spc="-114" dirty="0">
                <a:latin typeface="Calibri"/>
                <a:cs typeface="Calibri"/>
              </a:rPr>
              <a:t> </a:t>
            </a:r>
            <a:r>
              <a:rPr sz="3200" spc="-10" dirty="0">
                <a:latin typeface="Calibri"/>
                <a:cs typeface="Calibri"/>
              </a:rPr>
              <a:t>continuous</a:t>
            </a:r>
            <a:endParaRPr sz="3200" dirty="0">
              <a:latin typeface="Calibri"/>
              <a:cs typeface="Calibri"/>
            </a:endParaRPr>
          </a:p>
          <a:p>
            <a:pPr marL="12700">
              <a:lnSpc>
                <a:spcPts val="3835"/>
              </a:lnSpc>
            </a:pPr>
            <a:r>
              <a:rPr lang="en-IN" sz="3200" spc="-10" dirty="0">
                <a:latin typeface="Calibri"/>
                <a:cs typeface="Calibri"/>
              </a:rPr>
              <a:t>   </a:t>
            </a:r>
            <a:r>
              <a:rPr sz="3200" spc="-10" dirty="0">
                <a:latin typeface="Calibri"/>
                <a:cs typeface="Calibri"/>
              </a:rPr>
              <a:t>compliance</a:t>
            </a:r>
            <a:endParaRPr sz="3200" dirty="0">
              <a:latin typeface="Calibri"/>
              <a:cs typeface="Calibri"/>
            </a:endParaRPr>
          </a:p>
          <a:p>
            <a:pPr marL="12700" marR="716280" indent="294640">
              <a:lnSpc>
                <a:spcPct val="100000"/>
              </a:lnSpc>
              <a:spcBef>
                <a:spcPts val="740"/>
              </a:spcBef>
              <a:buChar char="•"/>
              <a:tabLst>
                <a:tab pos="307340" algn="l"/>
              </a:tabLst>
            </a:pPr>
            <a:r>
              <a:rPr sz="3200" dirty="0">
                <a:latin typeface="Calibri"/>
                <a:cs typeface="Calibri"/>
              </a:rPr>
              <a:t>Learned</a:t>
            </a:r>
            <a:r>
              <a:rPr sz="3200" spc="-75" dirty="0">
                <a:latin typeface="Calibri"/>
                <a:cs typeface="Calibri"/>
              </a:rPr>
              <a:t> </a:t>
            </a:r>
            <a:r>
              <a:rPr sz="3200" dirty="0">
                <a:latin typeface="Calibri"/>
                <a:cs typeface="Calibri"/>
              </a:rPr>
              <a:t>to</a:t>
            </a:r>
            <a:r>
              <a:rPr sz="3200" spc="-75" dirty="0">
                <a:latin typeface="Calibri"/>
                <a:cs typeface="Calibri"/>
              </a:rPr>
              <a:t> </a:t>
            </a:r>
            <a:r>
              <a:rPr sz="3200" dirty="0">
                <a:latin typeface="Calibri"/>
                <a:cs typeface="Calibri"/>
              </a:rPr>
              <a:t>build</a:t>
            </a:r>
            <a:r>
              <a:rPr sz="3200" spc="-75" dirty="0">
                <a:latin typeface="Calibri"/>
                <a:cs typeface="Calibri"/>
              </a:rPr>
              <a:t> </a:t>
            </a:r>
            <a:r>
              <a:rPr sz="3200" dirty="0">
                <a:latin typeface="Calibri"/>
                <a:cs typeface="Calibri"/>
              </a:rPr>
              <a:t>scalable,</a:t>
            </a:r>
            <a:r>
              <a:rPr sz="3200" spc="-80" dirty="0">
                <a:latin typeface="Calibri"/>
                <a:cs typeface="Calibri"/>
              </a:rPr>
              <a:t> </a:t>
            </a:r>
            <a:r>
              <a:rPr sz="3200" spc="-10" dirty="0">
                <a:latin typeface="Calibri"/>
                <a:cs typeface="Calibri"/>
              </a:rPr>
              <a:t>event-driven </a:t>
            </a:r>
            <a:r>
              <a:rPr lang="en-IN" sz="3200" spc="-10" dirty="0">
                <a:latin typeface="Calibri"/>
                <a:cs typeface="Calibri"/>
              </a:rPr>
              <a:t>  	</a:t>
            </a:r>
            <a:r>
              <a:rPr sz="3200" spc="-10" dirty="0">
                <a:latin typeface="Calibri"/>
                <a:cs typeface="Calibri"/>
              </a:rPr>
              <a:t>architecture</a:t>
            </a:r>
            <a:endParaRPr sz="3200" dirty="0">
              <a:latin typeface="Calibri"/>
              <a:cs typeface="Calibri"/>
            </a:endParaRPr>
          </a:p>
          <a:p>
            <a:pPr marL="12700" marR="5080" indent="294640">
              <a:lnSpc>
                <a:spcPts val="3829"/>
              </a:lnSpc>
              <a:spcBef>
                <a:spcPts val="925"/>
              </a:spcBef>
              <a:buChar char="•"/>
              <a:tabLst>
                <a:tab pos="307340" algn="l"/>
              </a:tabLst>
            </a:pPr>
            <a:r>
              <a:rPr sz="3200" dirty="0">
                <a:latin typeface="Calibri"/>
                <a:cs typeface="Calibri"/>
              </a:rPr>
              <a:t>Ready</a:t>
            </a:r>
            <a:r>
              <a:rPr sz="3200" spc="-75" dirty="0">
                <a:latin typeface="Calibri"/>
                <a:cs typeface="Calibri"/>
              </a:rPr>
              <a:t> </a:t>
            </a:r>
            <a:r>
              <a:rPr sz="3200" dirty="0">
                <a:latin typeface="Calibri"/>
                <a:cs typeface="Calibri"/>
              </a:rPr>
              <a:t>to</a:t>
            </a:r>
            <a:r>
              <a:rPr sz="3200" spc="-25" dirty="0">
                <a:latin typeface="Calibri"/>
                <a:cs typeface="Calibri"/>
              </a:rPr>
              <a:t> </a:t>
            </a:r>
            <a:r>
              <a:rPr sz="3200" dirty="0">
                <a:latin typeface="Calibri"/>
                <a:cs typeface="Calibri"/>
              </a:rPr>
              <a:t>apply</a:t>
            </a:r>
            <a:r>
              <a:rPr sz="3200" spc="-70" dirty="0">
                <a:latin typeface="Calibri"/>
                <a:cs typeface="Calibri"/>
              </a:rPr>
              <a:t> </a:t>
            </a:r>
            <a:r>
              <a:rPr sz="3200" dirty="0">
                <a:latin typeface="Calibri"/>
                <a:cs typeface="Calibri"/>
              </a:rPr>
              <a:t>this</a:t>
            </a:r>
            <a:r>
              <a:rPr sz="3200" spc="-90" dirty="0">
                <a:latin typeface="Calibri"/>
                <a:cs typeface="Calibri"/>
              </a:rPr>
              <a:t> </a:t>
            </a:r>
            <a:r>
              <a:rPr sz="3200" dirty="0">
                <a:latin typeface="Calibri"/>
                <a:cs typeface="Calibri"/>
              </a:rPr>
              <a:t>in</a:t>
            </a:r>
            <a:r>
              <a:rPr sz="3200" spc="-75" dirty="0">
                <a:latin typeface="Calibri"/>
                <a:cs typeface="Calibri"/>
              </a:rPr>
              <a:t> </a:t>
            </a:r>
            <a:r>
              <a:rPr sz="3200" spc="-10" dirty="0">
                <a:latin typeface="Calibri"/>
                <a:cs typeface="Calibri"/>
              </a:rPr>
              <a:t>real-</a:t>
            </a:r>
            <a:r>
              <a:rPr sz="3200" dirty="0">
                <a:latin typeface="Calibri"/>
                <a:cs typeface="Calibri"/>
              </a:rPr>
              <a:t>world</a:t>
            </a:r>
            <a:r>
              <a:rPr sz="3200" spc="-75" dirty="0">
                <a:latin typeface="Calibri"/>
                <a:cs typeface="Calibri"/>
              </a:rPr>
              <a:t> </a:t>
            </a:r>
            <a:r>
              <a:rPr sz="3200" spc="-10" dirty="0">
                <a:latin typeface="Calibri"/>
                <a:cs typeface="Calibri"/>
              </a:rPr>
              <a:t>enterprise </a:t>
            </a:r>
            <a:r>
              <a:rPr lang="en-IN" sz="3200" spc="-10" dirty="0">
                <a:latin typeface="Calibri"/>
                <a:cs typeface="Calibri"/>
              </a:rPr>
              <a:t>	</a:t>
            </a:r>
            <a:r>
              <a:rPr sz="3200" dirty="0">
                <a:latin typeface="Calibri"/>
                <a:cs typeface="Calibri"/>
              </a:rPr>
              <a:t>security</a:t>
            </a:r>
            <a:r>
              <a:rPr sz="3200" spc="-100" dirty="0">
                <a:latin typeface="Calibri"/>
                <a:cs typeface="Calibri"/>
              </a:rPr>
              <a:t> </a:t>
            </a:r>
            <a:r>
              <a:rPr sz="3200" spc="-10" dirty="0">
                <a:latin typeface="Calibri"/>
                <a:cs typeface="Calibri"/>
              </a:rPr>
              <a:t>projects</a:t>
            </a:r>
            <a:endParaRPr sz="3200" dirty="0">
              <a:latin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599" y="609600"/>
            <a:ext cx="6347713" cy="570669"/>
          </a:xfrm>
          <a:prstGeom prst="rect">
            <a:avLst/>
          </a:prstGeom>
        </p:spPr>
        <p:txBody>
          <a:bodyPr vert="horz" wrap="square" lIns="0" tIns="16510" rIns="0" bIns="0" rtlCol="0">
            <a:spAutoFit/>
          </a:bodyPr>
          <a:lstStyle/>
          <a:p>
            <a:pPr marL="1583055">
              <a:lnSpc>
                <a:spcPct val="100000"/>
              </a:lnSpc>
              <a:spcBef>
                <a:spcPts val="130"/>
              </a:spcBef>
            </a:pPr>
            <a:r>
              <a:rPr lang="en-IN" spc="-10" dirty="0"/>
              <a:t>    </a:t>
            </a:r>
            <a:r>
              <a:rPr spc="-10" dirty="0"/>
              <a:t>Conclusion</a:t>
            </a:r>
          </a:p>
        </p:txBody>
      </p:sp>
      <p:sp>
        <p:nvSpPr>
          <p:cNvPr id="3" name="object 3"/>
          <p:cNvSpPr txBox="1">
            <a:spLocks noGrp="1"/>
          </p:cNvSpPr>
          <p:nvPr>
            <p:ph idx="1"/>
          </p:nvPr>
        </p:nvSpPr>
        <p:spPr>
          <a:xfrm>
            <a:off x="609599" y="2160590"/>
            <a:ext cx="6347714" cy="2002791"/>
          </a:xfrm>
          <a:prstGeom prst="rect">
            <a:avLst/>
          </a:prstGeom>
        </p:spPr>
        <p:txBody>
          <a:bodyPr vert="horz" wrap="square" lIns="0" tIns="63182" rIns="0" bIns="0" rtlCol="0">
            <a:spAutoFit/>
          </a:bodyPr>
          <a:lstStyle/>
          <a:p>
            <a:pPr marL="355600" marR="5080" indent="-343535">
              <a:lnSpc>
                <a:spcPct val="100099"/>
              </a:lnSpc>
              <a:spcBef>
                <a:spcPts val="125"/>
              </a:spcBef>
              <a:buFont typeface="Arial MT"/>
              <a:buChar char="•"/>
              <a:tabLst>
                <a:tab pos="355600" algn="l"/>
              </a:tabLst>
            </a:pPr>
            <a:r>
              <a:rPr lang="en-US" spc="-10" dirty="0"/>
              <a:t>  The "Build a Security Monitoring System" project offered hands-on experience with key AWS services to create a real-time alert system for monitoring sensitive data access. We configured CloudTrail to log GetSecretValue events and streamed them into CloudWatch Logs, setting up metrics and alarms to detect secret access and send alerts via SNS.</a:t>
            </a:r>
            <a:endParaRPr spc="-1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15359" y="2912427"/>
            <a:ext cx="2362200" cy="701040"/>
          </a:xfrm>
          <a:prstGeom prst="rect">
            <a:avLst/>
          </a:prstGeom>
        </p:spPr>
        <p:txBody>
          <a:bodyPr vert="horz" wrap="square" lIns="0" tIns="16510" rIns="0" bIns="0" rtlCol="0">
            <a:spAutoFit/>
          </a:bodyPr>
          <a:lstStyle/>
          <a:p>
            <a:pPr marL="12700">
              <a:lnSpc>
                <a:spcPct val="100000"/>
              </a:lnSpc>
              <a:spcBef>
                <a:spcPts val="130"/>
              </a:spcBef>
            </a:pPr>
            <a:r>
              <a:rPr dirty="0"/>
              <a:t>Thank</a:t>
            </a:r>
            <a:r>
              <a:rPr spc="-25" dirty="0"/>
              <a:t> </a:t>
            </a:r>
            <a:r>
              <a:rPr spc="-75" dirty="0"/>
              <a:t>You</a:t>
            </a: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Facet</Template>
  <TotalTime>182</TotalTime>
  <Words>498</Words>
  <Application>Microsoft Office PowerPoint</Application>
  <PresentationFormat>On-screen Show (4:3)</PresentationFormat>
  <Paragraphs>51</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Arial MT</vt:lpstr>
      <vt:lpstr>Calibri</vt:lpstr>
      <vt:lpstr>Trebuchet MS</vt:lpstr>
      <vt:lpstr>Wingdings 3</vt:lpstr>
      <vt:lpstr>Facet</vt:lpstr>
      <vt:lpstr>SECURITY MONITORING SYSTEM ON AWS</vt:lpstr>
      <vt:lpstr>Group Members</vt:lpstr>
      <vt:lpstr>        INTRODUCTION</vt:lpstr>
      <vt:lpstr>         Problem Statement</vt:lpstr>
      <vt:lpstr>         Solution Overview</vt:lpstr>
      <vt:lpstr>        Key Components</vt:lpstr>
      <vt:lpstr>PowerPoint Presentation</vt:lpstr>
      <vt:lpstr>Key Features</vt:lpstr>
      <vt:lpstr>                RESULTS/DEMO </vt:lpstr>
      <vt:lpstr>             RESULTS/DEMO</vt:lpstr>
      <vt:lpstr>Learnings and Outcomes</vt:lpstr>
      <vt:lpstr>    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SATYA SRI</dc:creator>
  <cp:lastModifiedBy>Lakshmi Srujana Aketi</cp:lastModifiedBy>
  <cp:revision>4</cp:revision>
  <dcterms:created xsi:type="dcterms:W3CDTF">2025-07-09T04:33:19Z</dcterms:created>
  <dcterms:modified xsi:type="dcterms:W3CDTF">2025-07-11T13:15:43Z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2025-07-06T00:00:00Z</vt:filetime>
  </property>
  <property fmtid="{D5CDD505-2E9C-101B-9397-08002B2CF9AE}" pid="3" name="LastSaved">
    <vt:filetime>2025-07-09T00:00:00Z</vt:filetime>
  </property>
</Properties>
</file>